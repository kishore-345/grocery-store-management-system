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60" r:id="rId5"/>
    <p:sldId id="261" r:id="rId6"/>
    <p:sldId id="262" r:id="rId7"/>
    <p:sldId id="263" r:id="rId8"/>
    <p:sldId id="265" r:id="rId9"/>
    <p:sldId id="279" r:id="rId10"/>
    <p:sldId id="266" r:id="rId11"/>
    <p:sldId id="268" r:id="rId12"/>
    <p:sldId id="269" r:id="rId13"/>
    <p:sldId id="278" r:id="rId14"/>
    <p:sldId id="270" r:id="rId15"/>
    <p:sldId id="277" r:id="rId16"/>
    <p:sldId id="285" r:id="rId17"/>
    <p:sldId id="286" r:id="rId18"/>
    <p:sldId id="284" r:id="rId19"/>
    <p:sldId id="283" r:id="rId20"/>
    <p:sldId id="272" r:id="rId21"/>
    <p:sldId id="273" r:id="rId22"/>
    <p:sldId id="274" r:id="rId23"/>
    <p:sldId id="275" r:id="rId24"/>
    <p:sldId id="280" r:id="rId25"/>
    <p:sldId id="281" r:id="rId26"/>
    <p:sldId id="259" r:id="rId27"/>
  </p:sldIdLst>
  <p:sldSz cx="12192000" cy="6858000"/>
  <p:notesSz cx="6858000" cy="9144000"/>
  <p:embeddedFontLst>
    <p:embeddedFont>
      <p:font typeface="Lato Black" panose="020F0502020204030203" pitchFamily="34" charset="0"/>
      <p:bold r:id="rId29"/>
      <p:boldItalic r:id="rId30"/>
    </p:embeddedFont>
    <p:embeddedFont>
      <p:font typeface="Libre Baskerville"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gangireddy-uttej-reddy-12376029b"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github.com/kishore-345" TargetMode="External"/><Relationship Id="rId5" Type="http://schemas.openxmlformats.org/officeDocument/2006/relationships/hyperlink" Target="http://www.linkedin.com/in/mandadi-kishore-reddy-bb243a287" TargetMode="External"/><Relationship Id="rId4" Type="http://schemas.openxmlformats.org/officeDocument/2006/relationships/hyperlink" Target="https://github.com/Gangireddy-uttej-reddy"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91783"/>
            <a:ext cx="12190815" cy="6694098"/>
          </a:xfrm>
          <a:prstGeom prst="rect">
            <a:avLst/>
          </a:prstGeom>
          <a:noFill/>
          <a:ln>
            <a:noFill/>
          </a:ln>
        </p:spPr>
      </p:pic>
      <p:sp>
        <p:nvSpPr>
          <p:cNvPr id="99" name="Google Shape;99;p1"/>
          <p:cNvSpPr txBox="1"/>
          <p:nvPr/>
        </p:nvSpPr>
        <p:spPr>
          <a:xfrm>
            <a:off x="2472905" y="3580334"/>
            <a:ext cx="7246189" cy="1077178"/>
          </a:xfrm>
          <a:prstGeom prst="rect">
            <a:avLst/>
          </a:prstGeom>
          <a:noFill/>
          <a:ln>
            <a:noFill/>
          </a:ln>
        </p:spPr>
        <p:txBody>
          <a:bodyPr spcFirstLastPara="1" wrap="square" lIns="91425" tIns="45700" rIns="91425" bIns="45700" anchor="t" anchorCtr="0">
            <a:spAutoFit/>
          </a:bodyPr>
          <a:lstStyle/>
          <a:p>
            <a:pPr lvl="0" algn="ctr">
              <a:buSzPts val="1800"/>
            </a:pPr>
            <a:r>
              <a:rPr lang="en-IN" sz="3200" b="1" dirty="0"/>
              <a:t>Grocery Store Management</a:t>
            </a:r>
            <a:br>
              <a:rPr lang="en-IN" sz="3200" b="1" u="sng" dirty="0"/>
            </a:br>
            <a:endParaRPr sz="3200" b="1"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0BA2DC60-393F-9FE0-5E6E-DB16D1A5B10D}"/>
              </a:ext>
            </a:extLst>
          </p:cNvPr>
          <p:cNvSpPr txBox="1"/>
          <p:nvPr/>
        </p:nvSpPr>
        <p:spPr>
          <a:xfrm>
            <a:off x="8005010" y="4793450"/>
            <a:ext cx="4186990" cy="923330"/>
          </a:xfrm>
          <a:prstGeom prst="rect">
            <a:avLst/>
          </a:prstGeom>
          <a:noFill/>
        </p:spPr>
        <p:txBody>
          <a:bodyPr wrap="square" rtlCol="0">
            <a:spAutoFit/>
          </a:bodyPr>
          <a:lstStyle/>
          <a:p>
            <a:r>
              <a:rPr lang="en-US" sz="1800" b="1" dirty="0"/>
              <a:t>Batch 484</a:t>
            </a:r>
          </a:p>
          <a:p>
            <a:r>
              <a:rPr lang="en-US" sz="1800" b="1" dirty="0"/>
              <a:t>G. </a:t>
            </a:r>
            <a:r>
              <a:rPr lang="en-US" sz="1800" b="1" dirty="0" err="1"/>
              <a:t>Uttej</a:t>
            </a:r>
            <a:r>
              <a:rPr lang="en-US" sz="1800" b="1" dirty="0"/>
              <a:t> Reddy</a:t>
            </a:r>
          </a:p>
          <a:p>
            <a:r>
              <a:rPr lang="en-US" sz="1800" b="1" dirty="0"/>
              <a:t>M. Kishore Reddy</a:t>
            </a:r>
            <a:endParaRPr lang="en-IN"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1" y="1299172"/>
            <a:ext cx="11277725" cy="4893607"/>
          </a:xfrm>
          <a:prstGeom prst="rect">
            <a:avLst/>
          </a:prstGeom>
          <a:noFill/>
          <a:ln>
            <a:noFill/>
          </a:ln>
        </p:spPr>
        <p:txBody>
          <a:bodyPr spcFirstLastPara="1" wrap="square" lIns="91425" tIns="45700" rIns="91425" bIns="45700" anchor="t" anchorCtr="0">
            <a:spAutoFit/>
          </a:bodyPr>
          <a:lstStyle/>
          <a:p>
            <a:r>
              <a:rPr lang="en-IN" sz="2400" b="1" dirty="0"/>
              <a:t>    G. </a:t>
            </a:r>
            <a:r>
              <a:rPr lang="en-IN" sz="2400" b="1" dirty="0" err="1"/>
              <a:t>Uttej</a:t>
            </a:r>
            <a:r>
              <a:rPr lang="en-IN" sz="2400" b="1" dirty="0"/>
              <a:t> Reddy</a:t>
            </a:r>
          </a:p>
          <a:p>
            <a:pPr marL="342900" indent="-342900">
              <a:buFont typeface="Arial" panose="020B0604020202020204" pitchFamily="34" charset="0"/>
              <a:buChar char="•"/>
            </a:pPr>
            <a:r>
              <a:rPr lang="en-IN" sz="2400" dirty="0"/>
              <a:t>Pursuing B.Tech (IT) at Anurag University </a:t>
            </a:r>
          </a:p>
          <a:p>
            <a:pPr marL="342900" indent="-342900">
              <a:buFont typeface="Arial" panose="020B0604020202020204" pitchFamily="34" charset="0"/>
              <a:buChar char="•"/>
            </a:pPr>
            <a:r>
              <a:rPr lang="en-US" sz="2400" dirty="0"/>
              <a:t>Interested in Data Analytics to analyze data, solve real-world problems, and make smart decisions using technology</a:t>
            </a:r>
          </a:p>
          <a:p>
            <a:pPr marL="342900" indent="-342900">
              <a:buFont typeface="Arial" panose="020B0604020202020204" pitchFamily="34" charset="0"/>
              <a:buChar char="•"/>
            </a:pPr>
            <a:r>
              <a:rPr lang="en-IN" sz="2400" dirty="0"/>
              <a:t>LinkedIn: </a:t>
            </a:r>
            <a:r>
              <a:rPr lang="en-IN" sz="2400" dirty="0">
                <a:hlinkClick r:id="rId3"/>
              </a:rPr>
              <a:t>www.linkedin.com/in/gangireddy-uttej-reddy-12376029b</a:t>
            </a:r>
            <a:endParaRPr lang="en-IN" sz="2400" dirty="0"/>
          </a:p>
          <a:p>
            <a:pPr marL="342900" indent="-342900">
              <a:buFont typeface="Arial" panose="020B0604020202020204" pitchFamily="34" charset="0"/>
              <a:buChar char="•"/>
            </a:pPr>
            <a:r>
              <a:rPr lang="en-IN" sz="2400" dirty="0"/>
              <a:t>GitHub: </a:t>
            </a:r>
            <a:r>
              <a:rPr lang="en-IN" sz="2400" dirty="0">
                <a:hlinkClick r:id="rId4"/>
              </a:rPr>
              <a:t>https://github.com/Gangireddy-uttej-reddy</a:t>
            </a:r>
            <a:endParaRPr lang="en-IN" sz="2400" dirty="0"/>
          </a:p>
          <a:p>
            <a:pPr marL="342900" indent="-342900">
              <a:buFont typeface="Arial" panose="020B0604020202020204" pitchFamily="34" charset="0"/>
              <a:buChar char="•"/>
            </a:pPr>
            <a:endParaRPr lang="en-IN" sz="2400" dirty="0"/>
          </a:p>
          <a:p>
            <a:r>
              <a:rPr lang="en-IN" sz="2400" b="1" dirty="0"/>
              <a:t>    M. Kishore Reddy</a:t>
            </a:r>
          </a:p>
          <a:p>
            <a:pPr marL="342900" indent="-342900">
              <a:buFont typeface="Arial" panose="020B0604020202020204" pitchFamily="34" charset="0"/>
              <a:buChar char="•"/>
            </a:pPr>
            <a:r>
              <a:rPr lang="en-IN" sz="2400" dirty="0"/>
              <a:t>Pursuing B.Tech (IT) at Anurag University </a:t>
            </a:r>
          </a:p>
          <a:p>
            <a:pPr marL="342900" indent="-342900">
              <a:buFont typeface="Arial" panose="020B0604020202020204" pitchFamily="34" charset="0"/>
              <a:buChar char="•"/>
            </a:pPr>
            <a:r>
              <a:rPr lang="en-US" sz="2400" dirty="0"/>
              <a:t>Interested in Data Analytics because it combines programming, analytics, and business insights to create impactful solutions</a:t>
            </a:r>
            <a:endParaRPr lang="en-IN" sz="2400" dirty="0"/>
          </a:p>
          <a:p>
            <a:pPr marL="342900" indent="-342900">
              <a:buFont typeface="Arial" panose="020B0604020202020204" pitchFamily="34" charset="0"/>
              <a:buChar char="•"/>
            </a:pPr>
            <a:r>
              <a:rPr lang="en-IN" sz="2400" dirty="0"/>
              <a:t>LinkedIn: </a:t>
            </a:r>
            <a:r>
              <a:rPr lang="en-IN" sz="2400" dirty="0">
                <a:hlinkClick r:id="rId5"/>
              </a:rPr>
              <a:t>http://www.linkedin.com/in/mandadi-kishore-reddy-bb243a287</a:t>
            </a:r>
            <a:endParaRPr lang="en-IN" sz="2400" dirty="0"/>
          </a:p>
          <a:p>
            <a:pPr marL="342900" indent="-342900">
              <a:buFont typeface="Arial" panose="020B0604020202020204" pitchFamily="34" charset="0"/>
              <a:buChar char="•"/>
            </a:pPr>
            <a:r>
              <a:rPr lang="en-IN" sz="2400" dirty="0"/>
              <a:t>GitHub: </a:t>
            </a:r>
            <a:r>
              <a:rPr lang="en-IN" sz="2400" dirty="0">
                <a:hlinkClick r:id="rId6"/>
              </a:rPr>
              <a:t>https://github.com/kishore-345</a:t>
            </a:r>
            <a:endParaRPr lang="en-IN" sz="2400" dirty="0"/>
          </a:p>
        </p:txBody>
      </p:sp>
      <p:sp>
        <p:nvSpPr>
          <p:cNvPr id="105" name="Google Shape;105;p3"/>
          <p:cNvSpPr txBox="1"/>
          <p:nvPr/>
        </p:nvSpPr>
        <p:spPr>
          <a:xfrm>
            <a:off x="427656" y="416554"/>
            <a:ext cx="609960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US" sz="2400" b="1" dirty="0"/>
              <a:t>Business Problem</a:t>
            </a:r>
            <a:endParaRPr sz="2400" dirty="0"/>
          </a:p>
          <a:p>
            <a:pPr marL="457200" lvl="0" indent="-431800" algn="l" rtl="0">
              <a:lnSpc>
                <a:spcPct val="90000"/>
              </a:lnSpc>
              <a:spcBef>
                <a:spcPts val="1000"/>
              </a:spcBef>
              <a:spcAft>
                <a:spcPts val="0"/>
              </a:spcAft>
              <a:buSzPts val="2400"/>
              <a:buChar char="•"/>
            </a:pPr>
            <a:r>
              <a:rPr lang="en-US" sz="2400" b="1" dirty="0"/>
              <a:t>Problem Statement</a:t>
            </a:r>
            <a:endParaRPr sz="2400" dirty="0"/>
          </a:p>
          <a:p>
            <a:pPr marL="457200" lvl="0" indent="-431800" algn="l" rtl="0">
              <a:lnSpc>
                <a:spcPct val="90000"/>
              </a:lnSpc>
              <a:spcBef>
                <a:spcPts val="1000"/>
              </a:spcBef>
              <a:spcAft>
                <a:spcPts val="0"/>
              </a:spcAft>
              <a:buSzPts val="2400"/>
              <a:buChar char="•"/>
            </a:pPr>
            <a:r>
              <a:rPr lang="en-US" sz="2400" b="1" dirty="0"/>
              <a:t>Objective</a:t>
            </a:r>
            <a:endParaRPr sz="2400" dirty="0"/>
          </a:p>
          <a:p>
            <a:pPr marL="457200" lvl="0" indent="-431800" algn="l" rtl="0">
              <a:lnSpc>
                <a:spcPct val="90000"/>
              </a:lnSpc>
              <a:spcBef>
                <a:spcPts val="1000"/>
              </a:spcBef>
              <a:spcAft>
                <a:spcPts val="0"/>
              </a:spcAft>
              <a:buSzPts val="2400"/>
              <a:buChar char="•"/>
            </a:pPr>
            <a:r>
              <a:rPr lang="en-US" sz="2400" b="1" dirty="0"/>
              <a:t>ER Diagram</a:t>
            </a:r>
            <a:endParaRPr sz="2400" dirty="0"/>
          </a:p>
          <a:p>
            <a:pPr marL="457200" lvl="0" indent="-431800" algn="l" rtl="0">
              <a:lnSpc>
                <a:spcPct val="90000"/>
              </a:lnSpc>
              <a:spcBef>
                <a:spcPts val="1000"/>
              </a:spcBef>
              <a:spcAft>
                <a:spcPts val="0"/>
              </a:spcAft>
              <a:buSzPts val="2400"/>
              <a:buChar char="•"/>
            </a:pPr>
            <a:r>
              <a:rPr lang="en-IN" sz="2400" b="1" dirty="0"/>
              <a:t>Queries</a:t>
            </a:r>
          </a:p>
          <a:p>
            <a:pPr marL="457200" lvl="0" indent="-431800" algn="l" rtl="0">
              <a:lnSpc>
                <a:spcPct val="90000"/>
              </a:lnSpc>
              <a:spcBef>
                <a:spcPts val="1000"/>
              </a:spcBef>
              <a:spcAft>
                <a:spcPts val="0"/>
              </a:spcAft>
              <a:buSzPts val="2400"/>
              <a:buChar char="•"/>
            </a:pPr>
            <a:r>
              <a:rPr lang="en-IN" sz="2400" b="1" dirty="0"/>
              <a:t>Conclusion</a:t>
            </a:r>
          </a:p>
          <a:p>
            <a:pPr marL="457200" lvl="0" indent="-431800" algn="l" rtl="0">
              <a:lnSpc>
                <a:spcPct val="90000"/>
              </a:lnSpc>
              <a:spcBef>
                <a:spcPts val="1000"/>
              </a:spcBef>
              <a:spcAft>
                <a:spcPts val="0"/>
              </a:spcAft>
              <a:buSzPts val="2400"/>
              <a:buChar char="•"/>
            </a:pPr>
            <a:r>
              <a:rPr lang="en-IN" sz="2400" b="1" dirty="0"/>
              <a:t>Recommendation</a:t>
            </a:r>
          </a:p>
          <a:p>
            <a:pPr marL="457200" lvl="0" indent="-431800" algn="l" rtl="0">
              <a:lnSpc>
                <a:spcPct val="90000"/>
              </a:lnSpc>
              <a:spcBef>
                <a:spcPts val="1000"/>
              </a:spcBef>
              <a:spcAft>
                <a:spcPts val="0"/>
              </a:spcAft>
              <a:buSzPts val="2400"/>
              <a:buChar char="•"/>
            </a:pPr>
            <a:r>
              <a:rPr lang="en-IN" sz="2400" b="1" dirty="0"/>
              <a:t>Q/A</a:t>
            </a:r>
          </a:p>
          <a:p>
            <a:pPr lvl="0" indent="-431800">
              <a:buSzPts val="2400"/>
            </a:pPr>
            <a:r>
              <a:rPr lang="en-IN" b="1" dirty="0"/>
              <a:t>Thank you</a:t>
            </a:r>
            <a:endParaRPr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7A20A-2D20-34B7-FEB0-BBBC6493D15A}"/>
              </a:ext>
            </a:extLst>
          </p:cNvPr>
          <p:cNvSpPr>
            <a:spLocks noGrp="1"/>
          </p:cNvSpPr>
          <p:nvPr>
            <p:ph type="title"/>
          </p:nvPr>
        </p:nvSpPr>
        <p:spPr/>
        <p:txBody>
          <a:bodyPr/>
          <a:lstStyle/>
          <a:p>
            <a:r>
              <a:rPr lang="en-US" b="1" dirty="0">
                <a:solidFill>
                  <a:srgbClr val="FF0000"/>
                </a:solidFill>
              </a:rPr>
              <a:t>Business Problem</a:t>
            </a:r>
            <a:endParaRPr lang="en-IN" b="1" dirty="0">
              <a:solidFill>
                <a:srgbClr val="FF0000"/>
              </a:solidFill>
            </a:endParaRPr>
          </a:p>
        </p:txBody>
      </p:sp>
      <p:sp>
        <p:nvSpPr>
          <p:cNvPr id="3" name="Text Placeholder 2">
            <a:extLst>
              <a:ext uri="{FF2B5EF4-FFF2-40B4-BE49-F238E27FC236}">
                <a16:creationId xmlns:a16="http://schemas.microsoft.com/office/drawing/2014/main" id="{EB7CED01-C445-C7BF-5815-F510DB89942C}"/>
              </a:ext>
            </a:extLst>
          </p:cNvPr>
          <p:cNvSpPr>
            <a:spLocks noGrp="1"/>
          </p:cNvSpPr>
          <p:nvPr>
            <p:ph type="body" idx="1"/>
          </p:nvPr>
        </p:nvSpPr>
        <p:spPr/>
        <p:txBody>
          <a:bodyPr/>
          <a:lstStyle/>
          <a:p>
            <a:r>
              <a:rPr lang="en-US" dirty="0"/>
              <a:t>Grocery stores often face challenges in managing inventory, customer orders, product sales, suppliers, and employee activities efficiently. Manual tracking of these operations can lead to inaccurate billing, stock shortages, poor sales analysis, and difficulty in monitoring business performance. The lack of a centralized system makes it hard to identify top-selling products, customer purchasing patterns, revenue trends, and employee performance. </a:t>
            </a:r>
          </a:p>
          <a:p>
            <a:endParaRPr lang="en-IN" dirty="0"/>
          </a:p>
        </p:txBody>
      </p:sp>
    </p:spTree>
    <p:extLst>
      <p:ext uri="{BB962C8B-B14F-4D97-AF65-F5344CB8AC3E}">
        <p14:creationId xmlns:p14="http://schemas.microsoft.com/office/powerpoint/2010/main" val="213309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23472-DA23-9029-F380-4956E95E4D26}"/>
              </a:ext>
            </a:extLst>
          </p:cNvPr>
          <p:cNvSpPr>
            <a:spLocks noGrp="1"/>
          </p:cNvSpPr>
          <p:nvPr>
            <p:ph type="title"/>
          </p:nvPr>
        </p:nvSpPr>
        <p:spPr/>
        <p:txBody>
          <a:bodyPr/>
          <a:lstStyle/>
          <a:p>
            <a:r>
              <a:rPr lang="en-US" b="1" dirty="0">
                <a:solidFill>
                  <a:srgbClr val="FF0000"/>
                </a:solidFill>
              </a:rPr>
              <a:t>Problem Statement</a:t>
            </a:r>
            <a:endParaRPr lang="en-IN" b="1" dirty="0">
              <a:solidFill>
                <a:srgbClr val="FF0000"/>
              </a:solidFill>
            </a:endParaRPr>
          </a:p>
        </p:txBody>
      </p:sp>
      <p:sp>
        <p:nvSpPr>
          <p:cNvPr id="3" name="Text Placeholder 2">
            <a:extLst>
              <a:ext uri="{FF2B5EF4-FFF2-40B4-BE49-F238E27FC236}">
                <a16:creationId xmlns:a16="http://schemas.microsoft.com/office/drawing/2014/main" id="{217678BE-A89C-2138-1113-E4165CA82F33}"/>
              </a:ext>
            </a:extLst>
          </p:cNvPr>
          <p:cNvSpPr>
            <a:spLocks noGrp="1"/>
          </p:cNvSpPr>
          <p:nvPr>
            <p:ph type="body" idx="1"/>
          </p:nvPr>
        </p:nvSpPr>
        <p:spPr>
          <a:xfrm>
            <a:off x="838199" y="1825625"/>
            <a:ext cx="10824411" cy="3452228"/>
          </a:xfrm>
        </p:spPr>
        <p:txBody>
          <a:bodyPr/>
          <a:lstStyle/>
          <a:p>
            <a:r>
              <a:rPr lang="en-US" dirty="0"/>
              <a:t>The Grocery Store Management System aims to develop a relational database system that stores and manages data related to customers, products, suppliers, employees, and orders. The project focuses on using SQL queries to analyze sales, customer behavior, product performance, supplier contribution, and operational efficiency to support better business decision-making. </a:t>
            </a:r>
            <a:endParaRPr lang="en-IN" dirty="0"/>
          </a:p>
        </p:txBody>
      </p:sp>
    </p:spTree>
    <p:extLst>
      <p:ext uri="{BB962C8B-B14F-4D97-AF65-F5344CB8AC3E}">
        <p14:creationId xmlns:p14="http://schemas.microsoft.com/office/powerpoint/2010/main" val="2674945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A2491-2261-CB27-3903-71E8EECDD4E7}"/>
              </a:ext>
            </a:extLst>
          </p:cNvPr>
          <p:cNvSpPr>
            <a:spLocks noGrp="1"/>
          </p:cNvSpPr>
          <p:nvPr>
            <p:ph type="title"/>
          </p:nvPr>
        </p:nvSpPr>
        <p:spPr/>
        <p:txBody>
          <a:bodyPr/>
          <a:lstStyle/>
          <a:p>
            <a:r>
              <a:rPr lang="en-US" b="1" dirty="0">
                <a:solidFill>
                  <a:srgbClr val="FF0000"/>
                </a:solidFill>
              </a:rPr>
              <a:t>Objective</a:t>
            </a:r>
            <a:endParaRPr lang="en-IN" b="1" dirty="0">
              <a:solidFill>
                <a:srgbClr val="FF0000"/>
              </a:solidFill>
            </a:endParaRPr>
          </a:p>
        </p:txBody>
      </p:sp>
      <p:sp>
        <p:nvSpPr>
          <p:cNvPr id="3" name="Text Placeholder 2">
            <a:extLst>
              <a:ext uri="{FF2B5EF4-FFF2-40B4-BE49-F238E27FC236}">
                <a16:creationId xmlns:a16="http://schemas.microsoft.com/office/drawing/2014/main" id="{B48725A3-1B70-8868-7560-24FD4EA74DEC}"/>
              </a:ext>
            </a:extLst>
          </p:cNvPr>
          <p:cNvSpPr>
            <a:spLocks noGrp="1"/>
          </p:cNvSpPr>
          <p:nvPr>
            <p:ph type="body" idx="1"/>
          </p:nvPr>
        </p:nvSpPr>
        <p:spPr>
          <a:xfrm>
            <a:off x="838200" y="1347537"/>
            <a:ext cx="11353800" cy="4829426"/>
          </a:xfrm>
        </p:spPr>
        <p:txBody>
          <a:bodyPr/>
          <a:lstStyle/>
          <a:p>
            <a:r>
              <a:rPr lang="en-US" dirty="0"/>
              <a:t>Design and implement a relational database for grocery store operations</a:t>
            </a:r>
          </a:p>
          <a:p>
            <a:r>
              <a:rPr lang="en-US" dirty="0"/>
              <a:t> Manage products, suppliers, customers, employees, and orders efficiently</a:t>
            </a:r>
          </a:p>
          <a:p>
            <a:r>
              <a:rPr lang="en-US" dirty="0"/>
              <a:t> Analyze customer purchasing behavior and sales trends</a:t>
            </a:r>
          </a:p>
          <a:p>
            <a:r>
              <a:rPr lang="en-US" dirty="0"/>
              <a:t> Identify top-selling products and high-value customers</a:t>
            </a:r>
          </a:p>
          <a:p>
            <a:r>
              <a:rPr lang="en-US" dirty="0"/>
              <a:t> Evaluate supplier and employee performance</a:t>
            </a:r>
          </a:p>
          <a:p>
            <a:r>
              <a:rPr lang="en-US" dirty="0"/>
              <a:t> Generate business insights using SQL concepts like joins, aggregations, subqueries, and filtering techniques</a:t>
            </a:r>
            <a:endParaRPr lang="en-IN" dirty="0"/>
          </a:p>
        </p:txBody>
      </p:sp>
    </p:spTree>
    <p:extLst>
      <p:ext uri="{BB962C8B-B14F-4D97-AF65-F5344CB8AC3E}">
        <p14:creationId xmlns:p14="http://schemas.microsoft.com/office/powerpoint/2010/main" val="3059668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7A696-9788-D1AB-B190-8F556945201F}"/>
              </a:ext>
            </a:extLst>
          </p:cNvPr>
          <p:cNvSpPr>
            <a:spLocks noGrp="1"/>
          </p:cNvSpPr>
          <p:nvPr>
            <p:ph type="title"/>
          </p:nvPr>
        </p:nvSpPr>
        <p:spPr/>
        <p:txBody>
          <a:bodyPr/>
          <a:lstStyle/>
          <a:p>
            <a:r>
              <a:rPr lang="en-US" b="1" dirty="0">
                <a:solidFill>
                  <a:srgbClr val="FF0000"/>
                </a:solidFill>
              </a:rPr>
              <a:t>ER Diagram</a:t>
            </a:r>
            <a:endParaRPr lang="en-IN" b="1" dirty="0">
              <a:solidFill>
                <a:srgbClr val="FF0000"/>
              </a:solidFill>
            </a:endParaRPr>
          </a:p>
        </p:txBody>
      </p:sp>
      <p:sp>
        <p:nvSpPr>
          <p:cNvPr id="3" name="Text Placeholder 2">
            <a:extLst>
              <a:ext uri="{FF2B5EF4-FFF2-40B4-BE49-F238E27FC236}">
                <a16:creationId xmlns:a16="http://schemas.microsoft.com/office/drawing/2014/main" id="{189AD6D3-73B3-22D7-D0BB-4A396EE3AD55}"/>
              </a:ext>
            </a:extLst>
          </p:cNvPr>
          <p:cNvSpPr>
            <a:spLocks noGrp="1"/>
          </p:cNvSpPr>
          <p:nvPr>
            <p:ph type="body" idx="1"/>
          </p:nvPr>
        </p:nvSpPr>
        <p:spPr>
          <a:xfrm>
            <a:off x="8325464" y="1376516"/>
            <a:ext cx="3630562" cy="4721789"/>
          </a:xfrm>
        </p:spPr>
        <p:txBody>
          <a:bodyPr>
            <a:normAutofit/>
          </a:bodyPr>
          <a:lstStyle/>
          <a:p>
            <a:r>
              <a:rPr lang="en-US" sz="2000" dirty="0"/>
              <a:t>One-to-Many from </a:t>
            </a:r>
            <a:r>
              <a:rPr lang="en-US" sz="2000" b="1" dirty="0"/>
              <a:t>Customers</a:t>
            </a:r>
            <a:r>
              <a:rPr lang="en-US" sz="2000" dirty="0"/>
              <a:t> to </a:t>
            </a:r>
            <a:r>
              <a:rPr lang="en-US" sz="2000" b="1" dirty="0"/>
              <a:t>Orders</a:t>
            </a:r>
          </a:p>
          <a:p>
            <a:r>
              <a:rPr lang="en-US" sz="2000" dirty="0"/>
              <a:t> One-to-Many from </a:t>
            </a:r>
            <a:r>
              <a:rPr lang="en-US" sz="2000" b="1" dirty="0"/>
              <a:t>Employees</a:t>
            </a:r>
            <a:r>
              <a:rPr lang="en-US" sz="2000" dirty="0"/>
              <a:t> to </a:t>
            </a:r>
            <a:r>
              <a:rPr lang="en-US" sz="2000" b="1" dirty="0"/>
              <a:t>Orders</a:t>
            </a:r>
            <a:r>
              <a:rPr lang="en-US" sz="2000" dirty="0"/>
              <a:t> </a:t>
            </a:r>
          </a:p>
          <a:p>
            <a:r>
              <a:rPr lang="en-US" sz="2000" dirty="0"/>
              <a:t>One-to-Many from </a:t>
            </a:r>
            <a:r>
              <a:rPr lang="en-US" sz="2000" b="1" dirty="0"/>
              <a:t>Orders</a:t>
            </a:r>
            <a:r>
              <a:rPr lang="en-US" sz="2000" dirty="0"/>
              <a:t> to </a:t>
            </a:r>
            <a:r>
              <a:rPr lang="en-US" sz="2000" b="1" dirty="0"/>
              <a:t>Order Details</a:t>
            </a:r>
            <a:r>
              <a:rPr lang="en-US" sz="2000" dirty="0"/>
              <a:t> </a:t>
            </a:r>
          </a:p>
          <a:p>
            <a:r>
              <a:rPr lang="en-US" sz="2000" dirty="0"/>
              <a:t>One-to-Many from </a:t>
            </a:r>
            <a:r>
              <a:rPr lang="en-US" sz="2000" b="1" dirty="0"/>
              <a:t>Products</a:t>
            </a:r>
            <a:r>
              <a:rPr lang="en-US" sz="2000" dirty="0"/>
              <a:t> to </a:t>
            </a:r>
            <a:r>
              <a:rPr lang="en-US" sz="2000" b="1" dirty="0"/>
              <a:t>Order Details</a:t>
            </a:r>
            <a:r>
              <a:rPr lang="en-US" sz="2000" dirty="0"/>
              <a:t> </a:t>
            </a:r>
          </a:p>
          <a:p>
            <a:r>
              <a:rPr lang="en-US" sz="2000" dirty="0"/>
              <a:t>One-to-Many from </a:t>
            </a:r>
            <a:r>
              <a:rPr lang="en-US" sz="2000" b="1" dirty="0"/>
              <a:t>Suppliers</a:t>
            </a:r>
            <a:r>
              <a:rPr lang="en-US" sz="2000" dirty="0"/>
              <a:t> to </a:t>
            </a:r>
            <a:r>
              <a:rPr lang="en-US" sz="2000" b="1" dirty="0"/>
              <a:t>Products</a:t>
            </a:r>
            <a:r>
              <a:rPr lang="en-US" sz="2000" dirty="0"/>
              <a:t> </a:t>
            </a:r>
          </a:p>
          <a:p>
            <a:r>
              <a:rPr lang="en-US" sz="2000" dirty="0"/>
              <a:t>One-to-Many from </a:t>
            </a:r>
            <a:r>
              <a:rPr lang="en-US" sz="2000" b="1" dirty="0"/>
              <a:t>Categories</a:t>
            </a:r>
            <a:r>
              <a:rPr lang="en-US" sz="2000" dirty="0"/>
              <a:t> to </a:t>
            </a:r>
            <a:r>
              <a:rPr lang="en-US" sz="2000" b="1" dirty="0"/>
              <a:t>Products</a:t>
            </a:r>
            <a:endParaRPr lang="en-IN" sz="2000" dirty="0"/>
          </a:p>
        </p:txBody>
      </p:sp>
      <p:pic>
        <p:nvPicPr>
          <p:cNvPr id="5" name="Picture 4">
            <a:extLst>
              <a:ext uri="{FF2B5EF4-FFF2-40B4-BE49-F238E27FC236}">
                <a16:creationId xmlns:a16="http://schemas.microsoft.com/office/drawing/2014/main" id="{6164278C-04AF-E0EA-255E-AF7568910215}"/>
              </a:ext>
            </a:extLst>
          </p:cNvPr>
          <p:cNvPicPr>
            <a:picLocks noChangeAspect="1"/>
          </p:cNvPicPr>
          <p:nvPr/>
        </p:nvPicPr>
        <p:blipFill>
          <a:blip r:embed="rId2"/>
          <a:stretch>
            <a:fillRect/>
          </a:stretch>
        </p:blipFill>
        <p:spPr>
          <a:xfrm>
            <a:off x="235974" y="1376516"/>
            <a:ext cx="8010832" cy="5296899"/>
          </a:xfrm>
          <a:prstGeom prst="rect">
            <a:avLst/>
          </a:prstGeom>
        </p:spPr>
      </p:pic>
    </p:spTree>
    <p:extLst>
      <p:ext uri="{BB962C8B-B14F-4D97-AF65-F5344CB8AC3E}">
        <p14:creationId xmlns:p14="http://schemas.microsoft.com/office/powerpoint/2010/main" val="435673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DE44-0BEC-EF4A-6963-DFC807E751A8}"/>
              </a:ext>
            </a:extLst>
          </p:cNvPr>
          <p:cNvSpPr>
            <a:spLocks noGrp="1"/>
          </p:cNvSpPr>
          <p:nvPr>
            <p:ph type="title"/>
          </p:nvPr>
        </p:nvSpPr>
        <p:spPr>
          <a:xfrm>
            <a:off x="838200" y="365126"/>
            <a:ext cx="10515600" cy="1119546"/>
          </a:xfrm>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22947685-A4B4-08F3-1F27-361164C8AAB7}"/>
              </a:ext>
            </a:extLst>
          </p:cNvPr>
          <p:cNvSpPr>
            <a:spLocks noGrp="1"/>
          </p:cNvSpPr>
          <p:nvPr>
            <p:ph type="body" idx="1"/>
          </p:nvPr>
        </p:nvSpPr>
        <p:spPr>
          <a:xfrm>
            <a:off x="857865" y="1337188"/>
            <a:ext cx="10515600" cy="5185184"/>
          </a:xfrm>
        </p:spPr>
        <p:txBody>
          <a:bodyPr/>
          <a:lstStyle/>
          <a:p>
            <a:r>
              <a:rPr lang="en-US" b="1" dirty="0"/>
              <a:t> How many unique customers placed orders?</a:t>
            </a:r>
          </a:p>
          <a:p>
            <a:endParaRPr lang="en-IN" dirty="0"/>
          </a:p>
        </p:txBody>
      </p:sp>
      <p:pic>
        <p:nvPicPr>
          <p:cNvPr id="5" name="Picture 4">
            <a:extLst>
              <a:ext uri="{FF2B5EF4-FFF2-40B4-BE49-F238E27FC236}">
                <a16:creationId xmlns:a16="http://schemas.microsoft.com/office/drawing/2014/main" id="{DE652D20-E369-F703-F1D0-5C56B1467DCD}"/>
              </a:ext>
            </a:extLst>
          </p:cNvPr>
          <p:cNvPicPr>
            <a:picLocks noChangeAspect="1"/>
          </p:cNvPicPr>
          <p:nvPr/>
        </p:nvPicPr>
        <p:blipFill>
          <a:blip r:embed="rId2"/>
          <a:stretch>
            <a:fillRect/>
          </a:stretch>
        </p:blipFill>
        <p:spPr>
          <a:xfrm>
            <a:off x="1283054" y="2095615"/>
            <a:ext cx="5806004" cy="883559"/>
          </a:xfrm>
          <a:prstGeom prst="rect">
            <a:avLst/>
          </a:prstGeom>
        </p:spPr>
      </p:pic>
      <p:pic>
        <p:nvPicPr>
          <p:cNvPr id="7" name="Picture 6">
            <a:extLst>
              <a:ext uri="{FF2B5EF4-FFF2-40B4-BE49-F238E27FC236}">
                <a16:creationId xmlns:a16="http://schemas.microsoft.com/office/drawing/2014/main" id="{BD32BF6D-9F10-9845-AB07-A35BAC948787}"/>
              </a:ext>
            </a:extLst>
          </p:cNvPr>
          <p:cNvPicPr>
            <a:picLocks noChangeAspect="1"/>
          </p:cNvPicPr>
          <p:nvPr/>
        </p:nvPicPr>
        <p:blipFill>
          <a:blip r:embed="rId3"/>
          <a:stretch>
            <a:fillRect/>
          </a:stretch>
        </p:blipFill>
        <p:spPr>
          <a:xfrm>
            <a:off x="1368001" y="3929780"/>
            <a:ext cx="4865651" cy="681550"/>
          </a:xfrm>
          <a:prstGeom prst="rect">
            <a:avLst/>
          </a:prstGeom>
        </p:spPr>
      </p:pic>
      <p:sp>
        <p:nvSpPr>
          <p:cNvPr id="9" name="TextBox 8">
            <a:extLst>
              <a:ext uri="{FF2B5EF4-FFF2-40B4-BE49-F238E27FC236}">
                <a16:creationId xmlns:a16="http://schemas.microsoft.com/office/drawing/2014/main" id="{195B6F18-1013-55F4-9236-1F733DBA4678}"/>
              </a:ext>
            </a:extLst>
          </p:cNvPr>
          <p:cNvSpPr txBox="1"/>
          <p:nvPr/>
        </p:nvSpPr>
        <p:spPr>
          <a:xfrm>
            <a:off x="973393" y="4936037"/>
            <a:ext cx="5142272" cy="584775"/>
          </a:xfrm>
          <a:prstGeom prst="rect">
            <a:avLst/>
          </a:prstGeom>
          <a:noFill/>
        </p:spPr>
        <p:txBody>
          <a:bodyPr wrap="square" rtlCol="0">
            <a:spAutoFit/>
          </a:bodyPr>
          <a:lstStyle/>
          <a:p>
            <a:r>
              <a:rPr lang="en-US" sz="1600" b="1" dirty="0"/>
              <a:t>Counts the total number of unique customers who have placed orders in the store.</a:t>
            </a:r>
            <a:endParaRPr lang="en-IN" sz="1600" b="1" dirty="0"/>
          </a:p>
        </p:txBody>
      </p:sp>
    </p:spTree>
    <p:extLst>
      <p:ext uri="{BB962C8B-B14F-4D97-AF65-F5344CB8AC3E}">
        <p14:creationId xmlns:p14="http://schemas.microsoft.com/office/powerpoint/2010/main" val="1776819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0D226-CD79-D48F-E6E9-ADA7E13318B1}"/>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3FAC088B-C570-7C68-4A3C-53921ADA3271}"/>
              </a:ext>
            </a:extLst>
          </p:cNvPr>
          <p:cNvSpPr>
            <a:spLocks noGrp="1"/>
          </p:cNvSpPr>
          <p:nvPr>
            <p:ph type="body" idx="1"/>
          </p:nvPr>
        </p:nvSpPr>
        <p:spPr>
          <a:xfrm>
            <a:off x="838200" y="1475874"/>
            <a:ext cx="10515600" cy="4701089"/>
          </a:xfrm>
        </p:spPr>
        <p:txBody>
          <a:bodyPr/>
          <a:lstStyle/>
          <a:p>
            <a:r>
              <a:rPr lang="en-US" b="1" dirty="0"/>
              <a:t> Which customers placed the highest number of orders?</a:t>
            </a:r>
            <a:endParaRPr lang="en-IN" b="1" dirty="0"/>
          </a:p>
        </p:txBody>
      </p:sp>
      <p:sp>
        <p:nvSpPr>
          <p:cNvPr id="9" name="TextBox 8">
            <a:extLst>
              <a:ext uri="{FF2B5EF4-FFF2-40B4-BE49-F238E27FC236}">
                <a16:creationId xmlns:a16="http://schemas.microsoft.com/office/drawing/2014/main" id="{230E0E65-5F2C-E348-59BE-131ED29B00BC}"/>
              </a:ext>
            </a:extLst>
          </p:cNvPr>
          <p:cNvSpPr txBox="1"/>
          <p:nvPr/>
        </p:nvSpPr>
        <p:spPr>
          <a:xfrm>
            <a:off x="5257800" y="4714516"/>
            <a:ext cx="6096000" cy="584775"/>
          </a:xfrm>
          <a:prstGeom prst="rect">
            <a:avLst/>
          </a:prstGeom>
          <a:noFill/>
        </p:spPr>
        <p:txBody>
          <a:bodyPr wrap="square">
            <a:spAutoFit/>
          </a:bodyPr>
          <a:lstStyle/>
          <a:p>
            <a:pPr>
              <a:buNone/>
            </a:pPr>
            <a:r>
              <a:rPr lang="en-US" sz="1600" b="1" dirty="0"/>
              <a:t>Identifies customers who have placed highest number of orders in the grocery store.</a:t>
            </a:r>
          </a:p>
        </p:txBody>
      </p:sp>
      <p:pic>
        <p:nvPicPr>
          <p:cNvPr id="6" name="Picture 5">
            <a:extLst>
              <a:ext uri="{FF2B5EF4-FFF2-40B4-BE49-F238E27FC236}">
                <a16:creationId xmlns:a16="http://schemas.microsoft.com/office/drawing/2014/main" id="{5238950C-980A-5D9E-5B40-C6783DCA158E}"/>
              </a:ext>
            </a:extLst>
          </p:cNvPr>
          <p:cNvPicPr>
            <a:picLocks noChangeAspect="1"/>
          </p:cNvPicPr>
          <p:nvPr/>
        </p:nvPicPr>
        <p:blipFill>
          <a:blip r:embed="rId2"/>
          <a:stretch>
            <a:fillRect/>
          </a:stretch>
        </p:blipFill>
        <p:spPr>
          <a:xfrm>
            <a:off x="1440935" y="2374373"/>
            <a:ext cx="3705742" cy="1676634"/>
          </a:xfrm>
          <a:prstGeom prst="rect">
            <a:avLst/>
          </a:prstGeom>
        </p:spPr>
      </p:pic>
      <p:pic>
        <p:nvPicPr>
          <p:cNvPr id="10" name="Picture 9">
            <a:extLst>
              <a:ext uri="{FF2B5EF4-FFF2-40B4-BE49-F238E27FC236}">
                <a16:creationId xmlns:a16="http://schemas.microsoft.com/office/drawing/2014/main" id="{621175A7-6766-616F-F14A-DCB68A421422}"/>
              </a:ext>
            </a:extLst>
          </p:cNvPr>
          <p:cNvPicPr>
            <a:picLocks noChangeAspect="1"/>
          </p:cNvPicPr>
          <p:nvPr/>
        </p:nvPicPr>
        <p:blipFill>
          <a:blip r:embed="rId3"/>
          <a:stretch>
            <a:fillRect/>
          </a:stretch>
        </p:blipFill>
        <p:spPr>
          <a:xfrm>
            <a:off x="7390323" y="2432198"/>
            <a:ext cx="2229161" cy="1756344"/>
          </a:xfrm>
          <a:prstGeom prst="rect">
            <a:avLst/>
          </a:prstGeom>
        </p:spPr>
      </p:pic>
    </p:spTree>
    <p:extLst>
      <p:ext uri="{BB962C8B-B14F-4D97-AF65-F5344CB8AC3E}">
        <p14:creationId xmlns:p14="http://schemas.microsoft.com/office/powerpoint/2010/main" val="2432218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C06D-242A-6FB0-0B8D-9FFD149201D0}"/>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0EC38385-0B5C-0257-D86E-9BD73E5A84C6}"/>
              </a:ext>
            </a:extLst>
          </p:cNvPr>
          <p:cNvSpPr>
            <a:spLocks noGrp="1"/>
          </p:cNvSpPr>
          <p:nvPr>
            <p:ph type="body" idx="1"/>
          </p:nvPr>
        </p:nvSpPr>
        <p:spPr>
          <a:xfrm>
            <a:off x="838200" y="1411705"/>
            <a:ext cx="10515600" cy="4765258"/>
          </a:xfrm>
        </p:spPr>
        <p:txBody>
          <a:bodyPr/>
          <a:lstStyle/>
          <a:p>
            <a:r>
              <a:rPr lang="en-US" b="1" dirty="0"/>
              <a:t>Top 5 Customers by Spending</a:t>
            </a:r>
            <a:endParaRPr lang="en-IN" b="1" dirty="0"/>
          </a:p>
        </p:txBody>
      </p:sp>
      <p:pic>
        <p:nvPicPr>
          <p:cNvPr id="5" name="Picture 4">
            <a:extLst>
              <a:ext uri="{FF2B5EF4-FFF2-40B4-BE49-F238E27FC236}">
                <a16:creationId xmlns:a16="http://schemas.microsoft.com/office/drawing/2014/main" id="{A3ABEA0A-E57C-959A-CC21-8B17B4BF34EB}"/>
              </a:ext>
            </a:extLst>
          </p:cNvPr>
          <p:cNvPicPr>
            <a:picLocks noChangeAspect="1"/>
          </p:cNvPicPr>
          <p:nvPr/>
        </p:nvPicPr>
        <p:blipFill>
          <a:blip r:embed="rId2"/>
          <a:stretch>
            <a:fillRect/>
          </a:stretch>
        </p:blipFill>
        <p:spPr>
          <a:xfrm>
            <a:off x="1130280" y="2584785"/>
            <a:ext cx="3953427" cy="2534004"/>
          </a:xfrm>
          <a:prstGeom prst="rect">
            <a:avLst/>
          </a:prstGeom>
        </p:spPr>
      </p:pic>
      <p:pic>
        <p:nvPicPr>
          <p:cNvPr id="7" name="Picture 6">
            <a:extLst>
              <a:ext uri="{FF2B5EF4-FFF2-40B4-BE49-F238E27FC236}">
                <a16:creationId xmlns:a16="http://schemas.microsoft.com/office/drawing/2014/main" id="{B1371251-E33B-B5AE-4CE1-E25B224950D1}"/>
              </a:ext>
            </a:extLst>
          </p:cNvPr>
          <p:cNvPicPr>
            <a:picLocks noChangeAspect="1"/>
          </p:cNvPicPr>
          <p:nvPr/>
        </p:nvPicPr>
        <p:blipFill>
          <a:blip r:embed="rId3"/>
          <a:stretch>
            <a:fillRect/>
          </a:stretch>
        </p:blipFill>
        <p:spPr>
          <a:xfrm>
            <a:off x="6837628" y="2146467"/>
            <a:ext cx="4027022" cy="2196557"/>
          </a:xfrm>
          <a:prstGeom prst="rect">
            <a:avLst/>
          </a:prstGeom>
        </p:spPr>
      </p:pic>
      <p:sp>
        <p:nvSpPr>
          <p:cNvPr id="8" name="TextBox 7">
            <a:extLst>
              <a:ext uri="{FF2B5EF4-FFF2-40B4-BE49-F238E27FC236}">
                <a16:creationId xmlns:a16="http://schemas.microsoft.com/office/drawing/2014/main" id="{2758E8C8-27BA-A40F-EA7F-BDA4F7F977F6}"/>
              </a:ext>
            </a:extLst>
          </p:cNvPr>
          <p:cNvSpPr txBox="1"/>
          <p:nvPr/>
        </p:nvSpPr>
        <p:spPr>
          <a:xfrm>
            <a:off x="6644640" y="4556760"/>
            <a:ext cx="5001240" cy="584775"/>
          </a:xfrm>
          <a:prstGeom prst="rect">
            <a:avLst/>
          </a:prstGeom>
          <a:noFill/>
        </p:spPr>
        <p:txBody>
          <a:bodyPr wrap="square" rtlCol="0">
            <a:spAutoFit/>
          </a:bodyPr>
          <a:lstStyle/>
          <a:p>
            <a:r>
              <a:rPr lang="en-US" sz="1600" b="1" dirty="0"/>
              <a:t>Identifies the top 5 customers with the highest total spending in the grocery store.</a:t>
            </a:r>
            <a:endParaRPr lang="en-IN" sz="1600" b="1" dirty="0"/>
          </a:p>
        </p:txBody>
      </p:sp>
    </p:spTree>
    <p:extLst>
      <p:ext uri="{BB962C8B-B14F-4D97-AF65-F5344CB8AC3E}">
        <p14:creationId xmlns:p14="http://schemas.microsoft.com/office/powerpoint/2010/main" val="3667534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9F985-5763-74EF-1447-AD630A12B661}"/>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E17C0013-C3CA-73CC-4728-AA90F0C466FB}"/>
              </a:ext>
            </a:extLst>
          </p:cNvPr>
          <p:cNvSpPr>
            <a:spLocks noGrp="1"/>
          </p:cNvSpPr>
          <p:nvPr>
            <p:ph type="body" idx="1"/>
          </p:nvPr>
        </p:nvSpPr>
        <p:spPr>
          <a:xfrm>
            <a:off x="838200" y="1394493"/>
            <a:ext cx="10515600" cy="4782470"/>
          </a:xfrm>
        </p:spPr>
        <p:txBody>
          <a:bodyPr/>
          <a:lstStyle/>
          <a:p>
            <a:r>
              <a:rPr lang="en-US" b="1" dirty="0"/>
              <a:t>Products with Highest Sales Quantity</a:t>
            </a:r>
            <a:endParaRPr lang="en-IN" b="1" dirty="0"/>
          </a:p>
        </p:txBody>
      </p:sp>
      <p:sp>
        <p:nvSpPr>
          <p:cNvPr id="8" name="TextBox 7">
            <a:extLst>
              <a:ext uri="{FF2B5EF4-FFF2-40B4-BE49-F238E27FC236}">
                <a16:creationId xmlns:a16="http://schemas.microsoft.com/office/drawing/2014/main" id="{0425DEF5-D997-EA41-9CF0-4DB2ABA41800}"/>
              </a:ext>
            </a:extLst>
          </p:cNvPr>
          <p:cNvSpPr txBox="1"/>
          <p:nvPr/>
        </p:nvSpPr>
        <p:spPr>
          <a:xfrm>
            <a:off x="5598695" y="5133473"/>
            <a:ext cx="5630779" cy="800219"/>
          </a:xfrm>
          <a:prstGeom prst="rect">
            <a:avLst/>
          </a:prstGeom>
          <a:noFill/>
        </p:spPr>
        <p:txBody>
          <a:bodyPr wrap="square" rtlCol="0">
            <a:spAutoFit/>
          </a:bodyPr>
          <a:lstStyle/>
          <a:p>
            <a:r>
              <a:rPr lang="en-US" sz="1600" b="1" dirty="0"/>
              <a:t>Identifies the products with the highest sales quantity to determine best-selling items.</a:t>
            </a:r>
          </a:p>
          <a:p>
            <a:endParaRPr lang="en-IN" dirty="0"/>
          </a:p>
        </p:txBody>
      </p:sp>
      <p:pic>
        <p:nvPicPr>
          <p:cNvPr id="6" name="Picture 5">
            <a:extLst>
              <a:ext uri="{FF2B5EF4-FFF2-40B4-BE49-F238E27FC236}">
                <a16:creationId xmlns:a16="http://schemas.microsoft.com/office/drawing/2014/main" id="{10C89453-DAAF-405B-F8CA-0AD86683C18F}"/>
              </a:ext>
            </a:extLst>
          </p:cNvPr>
          <p:cNvPicPr>
            <a:picLocks noChangeAspect="1"/>
          </p:cNvPicPr>
          <p:nvPr/>
        </p:nvPicPr>
        <p:blipFill>
          <a:blip r:embed="rId2"/>
          <a:stretch>
            <a:fillRect/>
          </a:stretch>
        </p:blipFill>
        <p:spPr>
          <a:xfrm>
            <a:off x="1321373" y="2404919"/>
            <a:ext cx="4277322" cy="2048161"/>
          </a:xfrm>
          <a:prstGeom prst="rect">
            <a:avLst/>
          </a:prstGeom>
        </p:spPr>
      </p:pic>
      <p:pic>
        <p:nvPicPr>
          <p:cNvPr id="10" name="Picture 9">
            <a:extLst>
              <a:ext uri="{FF2B5EF4-FFF2-40B4-BE49-F238E27FC236}">
                <a16:creationId xmlns:a16="http://schemas.microsoft.com/office/drawing/2014/main" id="{C5933ED5-977D-9C22-BB8B-C69A8516CB9C}"/>
              </a:ext>
            </a:extLst>
          </p:cNvPr>
          <p:cNvPicPr>
            <a:picLocks noChangeAspect="1"/>
          </p:cNvPicPr>
          <p:nvPr/>
        </p:nvPicPr>
        <p:blipFill>
          <a:blip r:embed="rId3"/>
          <a:stretch>
            <a:fillRect/>
          </a:stretch>
        </p:blipFill>
        <p:spPr>
          <a:xfrm>
            <a:off x="7008950" y="2589681"/>
            <a:ext cx="2810267" cy="1667687"/>
          </a:xfrm>
          <a:prstGeom prst="rect">
            <a:avLst/>
          </a:prstGeom>
        </p:spPr>
      </p:pic>
    </p:spTree>
    <p:extLst>
      <p:ext uri="{BB962C8B-B14F-4D97-AF65-F5344CB8AC3E}">
        <p14:creationId xmlns:p14="http://schemas.microsoft.com/office/powerpoint/2010/main" val="310576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E2A93-5750-CCBB-752C-F48CFBED7F83}"/>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1B197B7E-921D-EF6E-A571-7E0D39E24EB9}"/>
              </a:ext>
            </a:extLst>
          </p:cNvPr>
          <p:cNvSpPr>
            <a:spLocks noGrp="1"/>
          </p:cNvSpPr>
          <p:nvPr>
            <p:ph type="body" idx="1"/>
          </p:nvPr>
        </p:nvSpPr>
        <p:spPr>
          <a:xfrm>
            <a:off x="838200" y="1825625"/>
            <a:ext cx="10515600" cy="4667250"/>
          </a:xfrm>
        </p:spPr>
        <p:txBody>
          <a:bodyPr/>
          <a:lstStyle/>
          <a:p>
            <a:r>
              <a:rPr lang="en-US" b="1" dirty="0"/>
              <a:t>Revenue Generated by Each Product</a:t>
            </a:r>
          </a:p>
          <a:p>
            <a:endParaRPr lang="en-IN" b="1" dirty="0"/>
          </a:p>
        </p:txBody>
      </p:sp>
      <p:pic>
        <p:nvPicPr>
          <p:cNvPr id="5" name="Picture 4">
            <a:extLst>
              <a:ext uri="{FF2B5EF4-FFF2-40B4-BE49-F238E27FC236}">
                <a16:creationId xmlns:a16="http://schemas.microsoft.com/office/drawing/2014/main" id="{0C9CB0EC-F3BA-FD1D-F3FF-001A6727D504}"/>
              </a:ext>
            </a:extLst>
          </p:cNvPr>
          <p:cNvPicPr>
            <a:picLocks noChangeAspect="1"/>
          </p:cNvPicPr>
          <p:nvPr/>
        </p:nvPicPr>
        <p:blipFill>
          <a:blip r:embed="rId2"/>
          <a:stretch>
            <a:fillRect/>
          </a:stretch>
        </p:blipFill>
        <p:spPr>
          <a:xfrm>
            <a:off x="1289764" y="2556082"/>
            <a:ext cx="4373099" cy="3074697"/>
          </a:xfrm>
          <a:prstGeom prst="rect">
            <a:avLst/>
          </a:prstGeom>
        </p:spPr>
      </p:pic>
      <p:pic>
        <p:nvPicPr>
          <p:cNvPr id="7" name="Picture 6">
            <a:extLst>
              <a:ext uri="{FF2B5EF4-FFF2-40B4-BE49-F238E27FC236}">
                <a16:creationId xmlns:a16="http://schemas.microsoft.com/office/drawing/2014/main" id="{3D6C2AFC-E5AF-6E5E-0B6E-76D199ACFD25}"/>
              </a:ext>
            </a:extLst>
          </p:cNvPr>
          <p:cNvPicPr>
            <a:picLocks noChangeAspect="1"/>
          </p:cNvPicPr>
          <p:nvPr/>
        </p:nvPicPr>
        <p:blipFill>
          <a:blip r:embed="rId3"/>
          <a:stretch>
            <a:fillRect/>
          </a:stretch>
        </p:blipFill>
        <p:spPr>
          <a:xfrm>
            <a:off x="7480977" y="2323408"/>
            <a:ext cx="3026602" cy="2724530"/>
          </a:xfrm>
          <a:prstGeom prst="rect">
            <a:avLst/>
          </a:prstGeom>
        </p:spPr>
      </p:pic>
      <p:sp>
        <p:nvSpPr>
          <p:cNvPr id="8" name="TextBox 7">
            <a:extLst>
              <a:ext uri="{FF2B5EF4-FFF2-40B4-BE49-F238E27FC236}">
                <a16:creationId xmlns:a16="http://schemas.microsoft.com/office/drawing/2014/main" id="{3529AC96-17A7-85BF-70EE-879EC3FEDA14}"/>
              </a:ext>
            </a:extLst>
          </p:cNvPr>
          <p:cNvSpPr txBox="1"/>
          <p:nvPr/>
        </p:nvSpPr>
        <p:spPr>
          <a:xfrm>
            <a:off x="5662863" y="5438274"/>
            <a:ext cx="5239373" cy="800219"/>
          </a:xfrm>
          <a:prstGeom prst="rect">
            <a:avLst/>
          </a:prstGeom>
          <a:noFill/>
        </p:spPr>
        <p:txBody>
          <a:bodyPr wrap="square" rtlCol="0">
            <a:spAutoFit/>
          </a:bodyPr>
          <a:lstStyle/>
          <a:p>
            <a:r>
              <a:rPr lang="en-US" sz="1600" b="1" dirty="0"/>
              <a:t>Calculates the total revenue generated by each product based on sales transactions.</a:t>
            </a:r>
          </a:p>
          <a:p>
            <a:endParaRPr lang="en-IN" dirty="0"/>
          </a:p>
        </p:txBody>
      </p:sp>
    </p:spTree>
    <p:extLst>
      <p:ext uri="{BB962C8B-B14F-4D97-AF65-F5344CB8AC3E}">
        <p14:creationId xmlns:p14="http://schemas.microsoft.com/office/powerpoint/2010/main" val="370420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222C0-7F0C-2FAC-2DC7-77E490D76632}"/>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C2058EB0-C8E7-EAD6-2A61-4953E04C3DCD}"/>
              </a:ext>
            </a:extLst>
          </p:cNvPr>
          <p:cNvSpPr>
            <a:spLocks noGrp="1"/>
          </p:cNvSpPr>
          <p:nvPr>
            <p:ph type="body" idx="1"/>
          </p:nvPr>
        </p:nvSpPr>
        <p:spPr>
          <a:xfrm>
            <a:off x="838200" y="1507958"/>
            <a:ext cx="10515600" cy="4669005"/>
          </a:xfrm>
        </p:spPr>
        <p:txBody>
          <a:bodyPr/>
          <a:lstStyle/>
          <a:p>
            <a:r>
              <a:rPr lang="en-IN" b="1" dirty="0"/>
              <a:t>Category Wise Product Count</a:t>
            </a:r>
          </a:p>
          <a:p>
            <a:endParaRPr lang="en-IN" b="1" dirty="0"/>
          </a:p>
        </p:txBody>
      </p:sp>
      <p:pic>
        <p:nvPicPr>
          <p:cNvPr id="5" name="Picture 4">
            <a:extLst>
              <a:ext uri="{FF2B5EF4-FFF2-40B4-BE49-F238E27FC236}">
                <a16:creationId xmlns:a16="http://schemas.microsoft.com/office/drawing/2014/main" id="{340C6AC0-6668-A139-32ED-51D38C86FB16}"/>
              </a:ext>
            </a:extLst>
          </p:cNvPr>
          <p:cNvPicPr>
            <a:picLocks noChangeAspect="1"/>
          </p:cNvPicPr>
          <p:nvPr/>
        </p:nvPicPr>
        <p:blipFill>
          <a:blip r:embed="rId2"/>
          <a:stretch>
            <a:fillRect/>
          </a:stretch>
        </p:blipFill>
        <p:spPr>
          <a:xfrm>
            <a:off x="1480424" y="2374233"/>
            <a:ext cx="3428460" cy="2053388"/>
          </a:xfrm>
          <a:prstGeom prst="rect">
            <a:avLst/>
          </a:prstGeom>
        </p:spPr>
      </p:pic>
      <p:pic>
        <p:nvPicPr>
          <p:cNvPr id="7" name="Picture 6">
            <a:extLst>
              <a:ext uri="{FF2B5EF4-FFF2-40B4-BE49-F238E27FC236}">
                <a16:creationId xmlns:a16="http://schemas.microsoft.com/office/drawing/2014/main" id="{4DE3F252-6250-56F0-4F1D-9D7CB4CA9673}"/>
              </a:ext>
            </a:extLst>
          </p:cNvPr>
          <p:cNvPicPr>
            <a:picLocks noChangeAspect="1"/>
          </p:cNvPicPr>
          <p:nvPr/>
        </p:nvPicPr>
        <p:blipFill>
          <a:blip r:embed="rId3"/>
          <a:stretch>
            <a:fillRect/>
          </a:stretch>
        </p:blipFill>
        <p:spPr>
          <a:xfrm>
            <a:off x="6807660" y="2402306"/>
            <a:ext cx="2972215" cy="2053388"/>
          </a:xfrm>
          <a:prstGeom prst="rect">
            <a:avLst/>
          </a:prstGeom>
        </p:spPr>
      </p:pic>
      <p:sp>
        <p:nvSpPr>
          <p:cNvPr id="8" name="TextBox 7">
            <a:extLst>
              <a:ext uri="{FF2B5EF4-FFF2-40B4-BE49-F238E27FC236}">
                <a16:creationId xmlns:a16="http://schemas.microsoft.com/office/drawing/2014/main" id="{0738FCAF-0C52-21D8-F5B2-562EF0757E28}"/>
              </a:ext>
            </a:extLst>
          </p:cNvPr>
          <p:cNvSpPr txBox="1"/>
          <p:nvPr/>
        </p:nvSpPr>
        <p:spPr>
          <a:xfrm>
            <a:off x="6096000" y="4828674"/>
            <a:ext cx="4604084" cy="800219"/>
          </a:xfrm>
          <a:prstGeom prst="rect">
            <a:avLst/>
          </a:prstGeom>
          <a:noFill/>
        </p:spPr>
        <p:txBody>
          <a:bodyPr wrap="square" rtlCol="0">
            <a:spAutoFit/>
          </a:bodyPr>
          <a:lstStyle/>
          <a:p>
            <a:r>
              <a:rPr lang="en-US" sz="1600" b="1" dirty="0"/>
              <a:t>Displays the total number of products available in each product category.</a:t>
            </a:r>
          </a:p>
          <a:p>
            <a:endParaRPr lang="en-IN" dirty="0"/>
          </a:p>
        </p:txBody>
      </p:sp>
    </p:spTree>
    <p:extLst>
      <p:ext uri="{BB962C8B-B14F-4D97-AF65-F5344CB8AC3E}">
        <p14:creationId xmlns:p14="http://schemas.microsoft.com/office/powerpoint/2010/main" val="2350322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1B993-9F84-52DF-D90F-BF6E57BCB404}"/>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A3B197A7-853E-3B3E-C4F0-988076A7F607}"/>
              </a:ext>
            </a:extLst>
          </p:cNvPr>
          <p:cNvSpPr>
            <a:spLocks noGrp="1"/>
          </p:cNvSpPr>
          <p:nvPr>
            <p:ph type="body" idx="1"/>
          </p:nvPr>
        </p:nvSpPr>
        <p:spPr>
          <a:xfrm>
            <a:off x="838200" y="1267326"/>
            <a:ext cx="10515600" cy="5743074"/>
          </a:xfrm>
        </p:spPr>
        <p:txBody>
          <a:bodyPr/>
          <a:lstStyle/>
          <a:p>
            <a:r>
              <a:rPr lang="en-US" b="1" dirty="0"/>
              <a:t>Top Product in Each Category</a:t>
            </a:r>
            <a:endParaRPr lang="en-IN" b="1" dirty="0"/>
          </a:p>
        </p:txBody>
      </p:sp>
      <p:pic>
        <p:nvPicPr>
          <p:cNvPr id="5" name="Picture 4">
            <a:extLst>
              <a:ext uri="{FF2B5EF4-FFF2-40B4-BE49-F238E27FC236}">
                <a16:creationId xmlns:a16="http://schemas.microsoft.com/office/drawing/2014/main" id="{2683BC9E-A5A9-45C9-FD8C-7D68D929B320}"/>
              </a:ext>
            </a:extLst>
          </p:cNvPr>
          <p:cNvPicPr>
            <a:picLocks noChangeAspect="1"/>
          </p:cNvPicPr>
          <p:nvPr/>
        </p:nvPicPr>
        <p:blipFill>
          <a:blip r:embed="rId2"/>
          <a:stretch>
            <a:fillRect/>
          </a:stretch>
        </p:blipFill>
        <p:spPr>
          <a:xfrm>
            <a:off x="1060319" y="2134284"/>
            <a:ext cx="3415428" cy="3175719"/>
          </a:xfrm>
          <a:prstGeom prst="rect">
            <a:avLst/>
          </a:prstGeom>
        </p:spPr>
      </p:pic>
      <p:pic>
        <p:nvPicPr>
          <p:cNvPr id="7" name="Picture 6">
            <a:extLst>
              <a:ext uri="{FF2B5EF4-FFF2-40B4-BE49-F238E27FC236}">
                <a16:creationId xmlns:a16="http://schemas.microsoft.com/office/drawing/2014/main" id="{F97E6945-2892-354C-82C7-3BCDD3056D2E}"/>
              </a:ext>
            </a:extLst>
          </p:cNvPr>
          <p:cNvPicPr>
            <a:picLocks noChangeAspect="1"/>
          </p:cNvPicPr>
          <p:nvPr/>
        </p:nvPicPr>
        <p:blipFill>
          <a:blip r:embed="rId3"/>
          <a:stretch>
            <a:fillRect/>
          </a:stretch>
        </p:blipFill>
        <p:spPr>
          <a:xfrm>
            <a:off x="6369944" y="2169351"/>
            <a:ext cx="3943900" cy="3105583"/>
          </a:xfrm>
          <a:prstGeom prst="rect">
            <a:avLst/>
          </a:prstGeom>
        </p:spPr>
      </p:pic>
      <p:sp>
        <p:nvSpPr>
          <p:cNvPr id="10" name="TextBox 9">
            <a:extLst>
              <a:ext uri="{FF2B5EF4-FFF2-40B4-BE49-F238E27FC236}">
                <a16:creationId xmlns:a16="http://schemas.microsoft.com/office/drawing/2014/main" id="{A330ACCF-158F-A5FF-8298-7317B76E2A7E}"/>
              </a:ext>
            </a:extLst>
          </p:cNvPr>
          <p:cNvSpPr txBox="1"/>
          <p:nvPr/>
        </p:nvSpPr>
        <p:spPr>
          <a:xfrm>
            <a:off x="5421002" y="5390039"/>
            <a:ext cx="5422231" cy="800219"/>
          </a:xfrm>
          <a:prstGeom prst="rect">
            <a:avLst/>
          </a:prstGeom>
          <a:noFill/>
        </p:spPr>
        <p:txBody>
          <a:bodyPr wrap="square" rtlCol="0">
            <a:spAutoFit/>
          </a:bodyPr>
          <a:lstStyle/>
          <a:p>
            <a:r>
              <a:rPr lang="en-US" sz="1600" b="1" dirty="0"/>
              <a:t>Identifies the highest-selling product in each product category.</a:t>
            </a:r>
          </a:p>
          <a:p>
            <a:endParaRPr lang="en-IN" dirty="0"/>
          </a:p>
        </p:txBody>
      </p:sp>
    </p:spTree>
    <p:extLst>
      <p:ext uri="{BB962C8B-B14F-4D97-AF65-F5344CB8AC3E}">
        <p14:creationId xmlns:p14="http://schemas.microsoft.com/office/powerpoint/2010/main" val="1161493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9D5D-DC88-8552-A95F-4BA0280456A5}"/>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220747AD-5EA0-86F0-9E22-49742E8ECB0A}"/>
              </a:ext>
            </a:extLst>
          </p:cNvPr>
          <p:cNvSpPr>
            <a:spLocks noGrp="1"/>
          </p:cNvSpPr>
          <p:nvPr>
            <p:ph type="body" idx="1"/>
          </p:nvPr>
        </p:nvSpPr>
        <p:spPr>
          <a:xfrm>
            <a:off x="838200" y="1459832"/>
            <a:ext cx="10515600" cy="4717131"/>
          </a:xfrm>
        </p:spPr>
        <p:txBody>
          <a:bodyPr/>
          <a:lstStyle/>
          <a:p>
            <a:r>
              <a:rPr lang="en-US" b="1" dirty="0"/>
              <a:t>Average Quantity Ordered Per Product</a:t>
            </a:r>
          </a:p>
          <a:p>
            <a:endParaRPr lang="en-IN" b="1" dirty="0"/>
          </a:p>
        </p:txBody>
      </p:sp>
      <p:pic>
        <p:nvPicPr>
          <p:cNvPr id="5" name="Picture 4">
            <a:extLst>
              <a:ext uri="{FF2B5EF4-FFF2-40B4-BE49-F238E27FC236}">
                <a16:creationId xmlns:a16="http://schemas.microsoft.com/office/drawing/2014/main" id="{31FB253D-BB96-32C9-B0D0-4AFE161B9B0D}"/>
              </a:ext>
            </a:extLst>
          </p:cNvPr>
          <p:cNvPicPr>
            <a:picLocks noChangeAspect="1"/>
          </p:cNvPicPr>
          <p:nvPr/>
        </p:nvPicPr>
        <p:blipFill>
          <a:blip r:embed="rId2"/>
          <a:stretch>
            <a:fillRect/>
          </a:stretch>
        </p:blipFill>
        <p:spPr>
          <a:xfrm>
            <a:off x="1049804" y="2321036"/>
            <a:ext cx="2905530" cy="2215928"/>
          </a:xfrm>
          <a:prstGeom prst="rect">
            <a:avLst/>
          </a:prstGeom>
        </p:spPr>
      </p:pic>
      <p:pic>
        <p:nvPicPr>
          <p:cNvPr id="7" name="Picture 6">
            <a:extLst>
              <a:ext uri="{FF2B5EF4-FFF2-40B4-BE49-F238E27FC236}">
                <a16:creationId xmlns:a16="http://schemas.microsoft.com/office/drawing/2014/main" id="{4671E887-A368-978D-1B9B-57B51025C74F}"/>
              </a:ext>
            </a:extLst>
          </p:cNvPr>
          <p:cNvPicPr>
            <a:picLocks noChangeAspect="1"/>
          </p:cNvPicPr>
          <p:nvPr/>
        </p:nvPicPr>
        <p:blipFill>
          <a:blip r:embed="rId3"/>
          <a:stretch>
            <a:fillRect/>
          </a:stretch>
        </p:blipFill>
        <p:spPr>
          <a:xfrm>
            <a:off x="7189166" y="2081024"/>
            <a:ext cx="2915057" cy="2695951"/>
          </a:xfrm>
          <a:prstGeom prst="rect">
            <a:avLst/>
          </a:prstGeom>
        </p:spPr>
      </p:pic>
      <p:sp>
        <p:nvSpPr>
          <p:cNvPr id="8" name="TextBox 7">
            <a:extLst>
              <a:ext uri="{FF2B5EF4-FFF2-40B4-BE49-F238E27FC236}">
                <a16:creationId xmlns:a16="http://schemas.microsoft.com/office/drawing/2014/main" id="{C09AF362-C4A2-3898-1BF0-B9100E016AB4}"/>
              </a:ext>
            </a:extLst>
          </p:cNvPr>
          <p:cNvSpPr txBox="1"/>
          <p:nvPr/>
        </p:nvSpPr>
        <p:spPr>
          <a:xfrm>
            <a:off x="6625388" y="5149516"/>
            <a:ext cx="4940969" cy="584775"/>
          </a:xfrm>
          <a:prstGeom prst="rect">
            <a:avLst/>
          </a:prstGeom>
          <a:noFill/>
        </p:spPr>
        <p:txBody>
          <a:bodyPr wrap="square" rtlCol="0">
            <a:spAutoFit/>
          </a:bodyPr>
          <a:lstStyle/>
          <a:p>
            <a:r>
              <a:rPr lang="en-US" sz="1600" b="1" dirty="0"/>
              <a:t>Calculates the average quantity ordered for each product based on customer purchases.</a:t>
            </a:r>
          </a:p>
        </p:txBody>
      </p:sp>
    </p:spTree>
    <p:extLst>
      <p:ext uri="{BB962C8B-B14F-4D97-AF65-F5344CB8AC3E}">
        <p14:creationId xmlns:p14="http://schemas.microsoft.com/office/powerpoint/2010/main" val="110330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86A60-17FF-BDA8-D812-646EEC6AC018}"/>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598CD788-A822-23E7-EF98-D0390C7F32E5}"/>
              </a:ext>
            </a:extLst>
          </p:cNvPr>
          <p:cNvSpPr>
            <a:spLocks noGrp="1"/>
          </p:cNvSpPr>
          <p:nvPr>
            <p:ph type="body" idx="1"/>
          </p:nvPr>
        </p:nvSpPr>
        <p:spPr/>
        <p:txBody>
          <a:bodyPr/>
          <a:lstStyle/>
          <a:p>
            <a:r>
              <a:rPr lang="en-US" b="1" dirty="0"/>
              <a:t>How do order patterns vary across weekdays and weekends?</a:t>
            </a:r>
            <a:endParaRPr lang="en-IN" b="1" dirty="0"/>
          </a:p>
        </p:txBody>
      </p:sp>
      <p:pic>
        <p:nvPicPr>
          <p:cNvPr id="5" name="Picture 4">
            <a:extLst>
              <a:ext uri="{FF2B5EF4-FFF2-40B4-BE49-F238E27FC236}">
                <a16:creationId xmlns:a16="http://schemas.microsoft.com/office/drawing/2014/main" id="{E9F16604-2616-1BED-A19F-6ED58146FFB8}"/>
              </a:ext>
            </a:extLst>
          </p:cNvPr>
          <p:cNvPicPr>
            <a:picLocks noChangeAspect="1"/>
          </p:cNvPicPr>
          <p:nvPr/>
        </p:nvPicPr>
        <p:blipFill>
          <a:blip r:embed="rId2"/>
          <a:stretch>
            <a:fillRect/>
          </a:stretch>
        </p:blipFill>
        <p:spPr>
          <a:xfrm>
            <a:off x="1413711" y="2741315"/>
            <a:ext cx="4153480" cy="2791215"/>
          </a:xfrm>
          <a:prstGeom prst="rect">
            <a:avLst/>
          </a:prstGeom>
        </p:spPr>
      </p:pic>
      <p:pic>
        <p:nvPicPr>
          <p:cNvPr id="7" name="Picture 6">
            <a:extLst>
              <a:ext uri="{FF2B5EF4-FFF2-40B4-BE49-F238E27FC236}">
                <a16:creationId xmlns:a16="http://schemas.microsoft.com/office/drawing/2014/main" id="{AA3F2BB2-F5A1-F67A-2CDF-D5254E90BC52}"/>
              </a:ext>
            </a:extLst>
          </p:cNvPr>
          <p:cNvPicPr>
            <a:picLocks noChangeAspect="1"/>
          </p:cNvPicPr>
          <p:nvPr/>
        </p:nvPicPr>
        <p:blipFill>
          <a:blip r:embed="rId3"/>
          <a:stretch>
            <a:fillRect/>
          </a:stretch>
        </p:blipFill>
        <p:spPr>
          <a:xfrm>
            <a:off x="7382754" y="3086052"/>
            <a:ext cx="2686425" cy="685896"/>
          </a:xfrm>
          <a:prstGeom prst="rect">
            <a:avLst/>
          </a:prstGeom>
        </p:spPr>
      </p:pic>
      <p:sp>
        <p:nvSpPr>
          <p:cNvPr id="8" name="TextBox 7">
            <a:extLst>
              <a:ext uri="{FF2B5EF4-FFF2-40B4-BE49-F238E27FC236}">
                <a16:creationId xmlns:a16="http://schemas.microsoft.com/office/drawing/2014/main" id="{00D03C70-D128-47DE-3FB3-27FF3598A501}"/>
              </a:ext>
            </a:extLst>
          </p:cNvPr>
          <p:cNvSpPr txBox="1"/>
          <p:nvPr/>
        </p:nvSpPr>
        <p:spPr>
          <a:xfrm>
            <a:off x="6341806" y="4306529"/>
            <a:ext cx="4436483" cy="1046440"/>
          </a:xfrm>
          <a:prstGeom prst="rect">
            <a:avLst/>
          </a:prstGeom>
          <a:noFill/>
        </p:spPr>
        <p:txBody>
          <a:bodyPr wrap="square" rtlCol="0">
            <a:spAutoFit/>
          </a:bodyPr>
          <a:lstStyle/>
          <a:p>
            <a:r>
              <a:rPr lang="en-US" sz="1600" b="1" dirty="0"/>
              <a:t>Weekday orders are higher than weekend orders, indicating increased customer shopping activity during weekdays.</a:t>
            </a:r>
          </a:p>
          <a:p>
            <a:endParaRPr lang="en-IN" dirty="0"/>
          </a:p>
        </p:txBody>
      </p:sp>
    </p:spTree>
    <p:extLst>
      <p:ext uri="{BB962C8B-B14F-4D97-AF65-F5344CB8AC3E}">
        <p14:creationId xmlns:p14="http://schemas.microsoft.com/office/powerpoint/2010/main" val="676699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F3C1E-0513-669E-539A-7D6F824701C9}"/>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72708754-6E06-7F52-505D-F84913FBD0D0}"/>
              </a:ext>
            </a:extLst>
          </p:cNvPr>
          <p:cNvSpPr>
            <a:spLocks noGrp="1"/>
          </p:cNvSpPr>
          <p:nvPr>
            <p:ph type="body" idx="1"/>
          </p:nvPr>
        </p:nvSpPr>
        <p:spPr>
          <a:xfrm>
            <a:off x="838200" y="1482960"/>
            <a:ext cx="10515600" cy="4694003"/>
          </a:xfrm>
        </p:spPr>
        <p:txBody>
          <a:bodyPr/>
          <a:lstStyle/>
          <a:p>
            <a:r>
              <a:rPr lang="en-US" b="1" dirty="0"/>
              <a:t>What are the monthly trends in order volume and revenue?</a:t>
            </a:r>
          </a:p>
          <a:p>
            <a:endParaRPr lang="en-IN" b="1" dirty="0"/>
          </a:p>
        </p:txBody>
      </p:sp>
      <p:pic>
        <p:nvPicPr>
          <p:cNvPr id="5" name="Picture 4">
            <a:extLst>
              <a:ext uri="{FF2B5EF4-FFF2-40B4-BE49-F238E27FC236}">
                <a16:creationId xmlns:a16="http://schemas.microsoft.com/office/drawing/2014/main" id="{CCEFDA8E-7CE6-9A5C-1CB3-C35E3C8A2CE4}"/>
              </a:ext>
            </a:extLst>
          </p:cNvPr>
          <p:cNvPicPr>
            <a:picLocks noChangeAspect="1"/>
          </p:cNvPicPr>
          <p:nvPr/>
        </p:nvPicPr>
        <p:blipFill>
          <a:blip r:embed="rId2"/>
          <a:stretch>
            <a:fillRect/>
          </a:stretch>
        </p:blipFill>
        <p:spPr>
          <a:xfrm>
            <a:off x="1361185" y="2257951"/>
            <a:ext cx="3943900" cy="3010320"/>
          </a:xfrm>
          <a:prstGeom prst="rect">
            <a:avLst/>
          </a:prstGeom>
        </p:spPr>
      </p:pic>
      <p:pic>
        <p:nvPicPr>
          <p:cNvPr id="7" name="Picture 6">
            <a:extLst>
              <a:ext uri="{FF2B5EF4-FFF2-40B4-BE49-F238E27FC236}">
                <a16:creationId xmlns:a16="http://schemas.microsoft.com/office/drawing/2014/main" id="{F6EA4D75-2865-5270-5811-E2BD8B04FDEF}"/>
              </a:ext>
            </a:extLst>
          </p:cNvPr>
          <p:cNvPicPr>
            <a:picLocks noChangeAspect="1"/>
          </p:cNvPicPr>
          <p:nvPr/>
        </p:nvPicPr>
        <p:blipFill>
          <a:blip r:embed="rId3"/>
          <a:stretch>
            <a:fillRect/>
          </a:stretch>
        </p:blipFill>
        <p:spPr>
          <a:xfrm>
            <a:off x="7335744" y="2257951"/>
            <a:ext cx="2810267" cy="2753109"/>
          </a:xfrm>
          <a:prstGeom prst="rect">
            <a:avLst/>
          </a:prstGeom>
        </p:spPr>
      </p:pic>
      <p:sp>
        <p:nvSpPr>
          <p:cNvPr id="8" name="TextBox 7">
            <a:extLst>
              <a:ext uri="{FF2B5EF4-FFF2-40B4-BE49-F238E27FC236}">
                <a16:creationId xmlns:a16="http://schemas.microsoft.com/office/drawing/2014/main" id="{83567A94-3A7D-4616-721C-17A8F9820B61}"/>
              </a:ext>
            </a:extLst>
          </p:cNvPr>
          <p:cNvSpPr txBox="1"/>
          <p:nvPr/>
        </p:nvSpPr>
        <p:spPr>
          <a:xfrm>
            <a:off x="5305085" y="5345966"/>
            <a:ext cx="5364080" cy="830997"/>
          </a:xfrm>
          <a:prstGeom prst="rect">
            <a:avLst/>
          </a:prstGeom>
          <a:noFill/>
        </p:spPr>
        <p:txBody>
          <a:bodyPr wrap="square" rtlCol="0">
            <a:spAutoFit/>
          </a:bodyPr>
          <a:lstStyle/>
          <a:p>
            <a:r>
              <a:rPr lang="en-US" sz="1600" b="1" dirty="0"/>
              <a:t>Order volume and revenue fluctuate across months, with January showing the highest sales performance and October recording the lowest.</a:t>
            </a:r>
            <a:endParaRPr lang="en-IN" sz="1600" b="1" dirty="0"/>
          </a:p>
        </p:txBody>
      </p:sp>
    </p:spTree>
    <p:extLst>
      <p:ext uri="{BB962C8B-B14F-4D97-AF65-F5344CB8AC3E}">
        <p14:creationId xmlns:p14="http://schemas.microsoft.com/office/powerpoint/2010/main" val="298529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9DB7-C76D-AE62-D149-DB24A12A7DDA}"/>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0D71FD17-CED1-706C-39BC-575CD62B332D}"/>
              </a:ext>
            </a:extLst>
          </p:cNvPr>
          <p:cNvSpPr>
            <a:spLocks noGrp="1"/>
          </p:cNvSpPr>
          <p:nvPr>
            <p:ph type="body" idx="1"/>
          </p:nvPr>
        </p:nvSpPr>
        <p:spPr/>
        <p:txBody>
          <a:bodyPr/>
          <a:lstStyle/>
          <a:p>
            <a:r>
              <a:rPr lang="en-US" b="1" dirty="0"/>
              <a:t>On which dates were the most orders placed? </a:t>
            </a:r>
            <a:endParaRPr lang="en-IN" b="1" dirty="0"/>
          </a:p>
        </p:txBody>
      </p:sp>
      <p:pic>
        <p:nvPicPr>
          <p:cNvPr id="5" name="Picture 4">
            <a:extLst>
              <a:ext uri="{FF2B5EF4-FFF2-40B4-BE49-F238E27FC236}">
                <a16:creationId xmlns:a16="http://schemas.microsoft.com/office/drawing/2014/main" id="{C79ABDAE-3E59-9CEC-6195-3B4AD9C88977}"/>
              </a:ext>
            </a:extLst>
          </p:cNvPr>
          <p:cNvPicPr>
            <a:picLocks noChangeAspect="1"/>
          </p:cNvPicPr>
          <p:nvPr/>
        </p:nvPicPr>
        <p:blipFill>
          <a:blip r:embed="rId2"/>
          <a:stretch>
            <a:fillRect/>
          </a:stretch>
        </p:blipFill>
        <p:spPr>
          <a:xfrm>
            <a:off x="1532658" y="3006565"/>
            <a:ext cx="3600953" cy="1552792"/>
          </a:xfrm>
          <a:prstGeom prst="rect">
            <a:avLst/>
          </a:prstGeom>
        </p:spPr>
      </p:pic>
      <p:pic>
        <p:nvPicPr>
          <p:cNvPr id="7" name="Picture 6">
            <a:extLst>
              <a:ext uri="{FF2B5EF4-FFF2-40B4-BE49-F238E27FC236}">
                <a16:creationId xmlns:a16="http://schemas.microsoft.com/office/drawing/2014/main" id="{2C568D16-FCCA-548F-0D0F-1C9B6738A6D9}"/>
              </a:ext>
            </a:extLst>
          </p:cNvPr>
          <p:cNvPicPr>
            <a:picLocks noChangeAspect="1"/>
          </p:cNvPicPr>
          <p:nvPr/>
        </p:nvPicPr>
        <p:blipFill>
          <a:blip r:embed="rId3"/>
          <a:stretch>
            <a:fillRect/>
          </a:stretch>
        </p:blipFill>
        <p:spPr>
          <a:xfrm>
            <a:off x="7688523" y="3092302"/>
            <a:ext cx="2124371" cy="1637014"/>
          </a:xfrm>
          <a:prstGeom prst="rect">
            <a:avLst/>
          </a:prstGeom>
        </p:spPr>
      </p:pic>
      <p:sp>
        <p:nvSpPr>
          <p:cNvPr id="8" name="TextBox 7">
            <a:extLst>
              <a:ext uri="{FF2B5EF4-FFF2-40B4-BE49-F238E27FC236}">
                <a16:creationId xmlns:a16="http://schemas.microsoft.com/office/drawing/2014/main" id="{D9C3C521-C046-45A2-CECA-32D33308C0D8}"/>
              </a:ext>
            </a:extLst>
          </p:cNvPr>
          <p:cNvSpPr txBox="1"/>
          <p:nvPr/>
        </p:nvSpPr>
        <p:spPr>
          <a:xfrm>
            <a:off x="7128387" y="4955458"/>
            <a:ext cx="3549445" cy="800219"/>
          </a:xfrm>
          <a:prstGeom prst="rect">
            <a:avLst/>
          </a:prstGeom>
          <a:noFill/>
        </p:spPr>
        <p:txBody>
          <a:bodyPr wrap="square" rtlCol="0">
            <a:spAutoFit/>
          </a:bodyPr>
          <a:lstStyle/>
          <a:p>
            <a:r>
              <a:rPr lang="en-US" sz="1600" b="1" dirty="0"/>
              <a:t>Dates with the highest number of customer orders placed.</a:t>
            </a:r>
          </a:p>
          <a:p>
            <a:endParaRPr lang="en-IN" dirty="0"/>
          </a:p>
        </p:txBody>
      </p:sp>
    </p:spTree>
    <p:extLst>
      <p:ext uri="{BB962C8B-B14F-4D97-AF65-F5344CB8AC3E}">
        <p14:creationId xmlns:p14="http://schemas.microsoft.com/office/powerpoint/2010/main" val="1198111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85FD5-2BB2-22C8-766B-B144C2A9C3A4}"/>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2F9AEDEE-2573-1598-039C-CC057F6F505D}"/>
              </a:ext>
            </a:extLst>
          </p:cNvPr>
          <p:cNvSpPr>
            <a:spLocks noGrp="1"/>
          </p:cNvSpPr>
          <p:nvPr>
            <p:ph type="body" idx="1"/>
          </p:nvPr>
        </p:nvSpPr>
        <p:spPr/>
        <p:txBody>
          <a:bodyPr/>
          <a:lstStyle/>
          <a:p>
            <a:r>
              <a:rPr lang="en-US" b="1" dirty="0"/>
              <a:t>Which supplier provides the most products?</a:t>
            </a:r>
            <a:endParaRPr lang="en-IN" b="1" dirty="0"/>
          </a:p>
        </p:txBody>
      </p:sp>
      <p:pic>
        <p:nvPicPr>
          <p:cNvPr id="5" name="Picture 4">
            <a:extLst>
              <a:ext uri="{FF2B5EF4-FFF2-40B4-BE49-F238E27FC236}">
                <a16:creationId xmlns:a16="http://schemas.microsoft.com/office/drawing/2014/main" id="{0F3A9986-7CAD-D46D-7AA1-C72BF6E2655C}"/>
              </a:ext>
            </a:extLst>
          </p:cNvPr>
          <p:cNvPicPr>
            <a:picLocks noChangeAspect="1"/>
          </p:cNvPicPr>
          <p:nvPr/>
        </p:nvPicPr>
        <p:blipFill>
          <a:blip r:embed="rId2"/>
          <a:stretch>
            <a:fillRect/>
          </a:stretch>
        </p:blipFill>
        <p:spPr>
          <a:xfrm>
            <a:off x="1512820" y="3107467"/>
            <a:ext cx="3896269" cy="2019582"/>
          </a:xfrm>
          <a:prstGeom prst="rect">
            <a:avLst/>
          </a:prstGeom>
        </p:spPr>
      </p:pic>
      <p:pic>
        <p:nvPicPr>
          <p:cNvPr id="7" name="Picture 6">
            <a:extLst>
              <a:ext uri="{FF2B5EF4-FFF2-40B4-BE49-F238E27FC236}">
                <a16:creationId xmlns:a16="http://schemas.microsoft.com/office/drawing/2014/main" id="{E4A32A93-FCC6-51CB-F48D-F07F44508C77}"/>
              </a:ext>
            </a:extLst>
          </p:cNvPr>
          <p:cNvPicPr>
            <a:picLocks noChangeAspect="1"/>
          </p:cNvPicPr>
          <p:nvPr/>
        </p:nvPicPr>
        <p:blipFill>
          <a:blip r:embed="rId3"/>
          <a:stretch>
            <a:fillRect/>
          </a:stretch>
        </p:blipFill>
        <p:spPr>
          <a:xfrm>
            <a:off x="8026756" y="3751142"/>
            <a:ext cx="3054200" cy="732231"/>
          </a:xfrm>
          <a:prstGeom prst="rect">
            <a:avLst/>
          </a:prstGeom>
        </p:spPr>
      </p:pic>
      <p:sp>
        <p:nvSpPr>
          <p:cNvPr id="9" name="TextBox 8">
            <a:extLst>
              <a:ext uri="{FF2B5EF4-FFF2-40B4-BE49-F238E27FC236}">
                <a16:creationId xmlns:a16="http://schemas.microsoft.com/office/drawing/2014/main" id="{E3F5A4F2-A72E-400B-EFDA-0662E09DF5AF}"/>
              </a:ext>
            </a:extLst>
          </p:cNvPr>
          <p:cNvSpPr txBox="1"/>
          <p:nvPr/>
        </p:nvSpPr>
        <p:spPr>
          <a:xfrm>
            <a:off x="7344697" y="4768645"/>
            <a:ext cx="3883742" cy="800219"/>
          </a:xfrm>
          <a:prstGeom prst="rect">
            <a:avLst/>
          </a:prstGeom>
          <a:noFill/>
        </p:spPr>
        <p:txBody>
          <a:bodyPr wrap="square" rtlCol="0">
            <a:spAutoFit/>
          </a:bodyPr>
          <a:lstStyle/>
          <a:p>
            <a:r>
              <a:rPr lang="en-US" sz="1600" b="1" dirty="0"/>
              <a:t>Supplier contributing the highest number of products to the inventory.</a:t>
            </a:r>
          </a:p>
          <a:p>
            <a:endParaRPr lang="en-IN" dirty="0"/>
          </a:p>
        </p:txBody>
      </p:sp>
    </p:spTree>
    <p:extLst>
      <p:ext uri="{BB962C8B-B14F-4D97-AF65-F5344CB8AC3E}">
        <p14:creationId xmlns:p14="http://schemas.microsoft.com/office/powerpoint/2010/main" val="398871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54DC7-9A9C-B3FB-921A-48731C9F47CD}"/>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C1EDF5C0-EF48-1863-7106-6BE16A38E04B}"/>
              </a:ext>
            </a:extLst>
          </p:cNvPr>
          <p:cNvSpPr>
            <a:spLocks noGrp="1"/>
          </p:cNvSpPr>
          <p:nvPr>
            <p:ph type="body" idx="1"/>
          </p:nvPr>
        </p:nvSpPr>
        <p:spPr>
          <a:xfrm>
            <a:off x="838200" y="1411705"/>
            <a:ext cx="10515600" cy="4765258"/>
          </a:xfrm>
        </p:spPr>
        <p:txBody>
          <a:bodyPr/>
          <a:lstStyle/>
          <a:p>
            <a:r>
              <a:rPr lang="en-IN" b="1" dirty="0"/>
              <a:t>Supplier with Highest Revenue</a:t>
            </a:r>
          </a:p>
        </p:txBody>
      </p:sp>
      <p:pic>
        <p:nvPicPr>
          <p:cNvPr id="5" name="Picture 4">
            <a:extLst>
              <a:ext uri="{FF2B5EF4-FFF2-40B4-BE49-F238E27FC236}">
                <a16:creationId xmlns:a16="http://schemas.microsoft.com/office/drawing/2014/main" id="{FCA8183A-F08B-D158-E3C4-6D49F15053FC}"/>
              </a:ext>
            </a:extLst>
          </p:cNvPr>
          <p:cNvPicPr>
            <a:picLocks noChangeAspect="1"/>
          </p:cNvPicPr>
          <p:nvPr/>
        </p:nvPicPr>
        <p:blipFill>
          <a:blip r:embed="rId2"/>
          <a:stretch>
            <a:fillRect/>
          </a:stretch>
        </p:blipFill>
        <p:spPr>
          <a:xfrm>
            <a:off x="1218491" y="2183071"/>
            <a:ext cx="3574293" cy="3415623"/>
          </a:xfrm>
          <a:prstGeom prst="rect">
            <a:avLst/>
          </a:prstGeom>
        </p:spPr>
      </p:pic>
      <p:pic>
        <p:nvPicPr>
          <p:cNvPr id="7" name="Picture 6">
            <a:extLst>
              <a:ext uri="{FF2B5EF4-FFF2-40B4-BE49-F238E27FC236}">
                <a16:creationId xmlns:a16="http://schemas.microsoft.com/office/drawing/2014/main" id="{C91618AA-A36B-2338-BA77-B408A7AD0B44}"/>
              </a:ext>
            </a:extLst>
          </p:cNvPr>
          <p:cNvPicPr>
            <a:picLocks noChangeAspect="1"/>
          </p:cNvPicPr>
          <p:nvPr/>
        </p:nvPicPr>
        <p:blipFill>
          <a:blip r:embed="rId3"/>
          <a:stretch>
            <a:fillRect/>
          </a:stretch>
        </p:blipFill>
        <p:spPr>
          <a:xfrm>
            <a:off x="7587916" y="1980997"/>
            <a:ext cx="2777702" cy="2157865"/>
          </a:xfrm>
          <a:prstGeom prst="rect">
            <a:avLst/>
          </a:prstGeom>
        </p:spPr>
      </p:pic>
      <p:sp>
        <p:nvSpPr>
          <p:cNvPr id="10" name="TextBox 9">
            <a:extLst>
              <a:ext uri="{FF2B5EF4-FFF2-40B4-BE49-F238E27FC236}">
                <a16:creationId xmlns:a16="http://schemas.microsoft.com/office/drawing/2014/main" id="{750E3A46-7E2D-B30C-EB22-7D26A1AB9C5C}"/>
              </a:ext>
            </a:extLst>
          </p:cNvPr>
          <p:cNvSpPr txBox="1"/>
          <p:nvPr/>
        </p:nvSpPr>
        <p:spPr>
          <a:xfrm>
            <a:off x="5598695" y="4459705"/>
            <a:ext cx="5374814" cy="800219"/>
          </a:xfrm>
          <a:prstGeom prst="rect">
            <a:avLst/>
          </a:prstGeom>
          <a:noFill/>
        </p:spPr>
        <p:txBody>
          <a:bodyPr wrap="square" rtlCol="0">
            <a:spAutoFit/>
          </a:bodyPr>
          <a:lstStyle/>
          <a:p>
            <a:r>
              <a:rPr lang="en-US" sz="1600" b="1" dirty="0"/>
              <a:t>Identifies the supplier contributing the highest total revenue through product sales.</a:t>
            </a:r>
          </a:p>
          <a:p>
            <a:endParaRPr lang="en-IN" dirty="0"/>
          </a:p>
        </p:txBody>
      </p:sp>
    </p:spTree>
    <p:extLst>
      <p:ext uri="{BB962C8B-B14F-4D97-AF65-F5344CB8AC3E}">
        <p14:creationId xmlns:p14="http://schemas.microsoft.com/office/powerpoint/2010/main" val="3047316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C7DD1-4FC7-E908-9BA0-514CA345E46A}"/>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5D29CCE1-9358-FE2F-E4C0-9C35A8E9F129}"/>
              </a:ext>
            </a:extLst>
          </p:cNvPr>
          <p:cNvSpPr>
            <a:spLocks noGrp="1"/>
          </p:cNvSpPr>
          <p:nvPr>
            <p:ph type="body" idx="1"/>
          </p:nvPr>
        </p:nvSpPr>
        <p:spPr>
          <a:xfrm>
            <a:off x="838200" y="1451811"/>
            <a:ext cx="10515600" cy="4725152"/>
          </a:xfrm>
        </p:spPr>
        <p:txBody>
          <a:bodyPr/>
          <a:lstStyle/>
          <a:p>
            <a:r>
              <a:rPr lang="en-IN" b="1" dirty="0"/>
              <a:t>Employee Handling Most Orders</a:t>
            </a:r>
          </a:p>
          <a:p>
            <a:endParaRPr lang="en-IN" b="1" dirty="0"/>
          </a:p>
        </p:txBody>
      </p:sp>
      <p:pic>
        <p:nvPicPr>
          <p:cNvPr id="5" name="Picture 4">
            <a:extLst>
              <a:ext uri="{FF2B5EF4-FFF2-40B4-BE49-F238E27FC236}">
                <a16:creationId xmlns:a16="http://schemas.microsoft.com/office/drawing/2014/main" id="{55B4AB4A-6CDA-4959-FB9E-85F39ACE2B87}"/>
              </a:ext>
            </a:extLst>
          </p:cNvPr>
          <p:cNvPicPr>
            <a:picLocks noChangeAspect="1"/>
          </p:cNvPicPr>
          <p:nvPr/>
        </p:nvPicPr>
        <p:blipFill>
          <a:blip r:embed="rId2"/>
          <a:stretch>
            <a:fillRect/>
          </a:stretch>
        </p:blipFill>
        <p:spPr>
          <a:xfrm>
            <a:off x="1388935" y="2348750"/>
            <a:ext cx="3029373" cy="2749090"/>
          </a:xfrm>
          <a:prstGeom prst="rect">
            <a:avLst/>
          </a:prstGeom>
        </p:spPr>
      </p:pic>
      <p:pic>
        <p:nvPicPr>
          <p:cNvPr id="7" name="Picture 6">
            <a:extLst>
              <a:ext uri="{FF2B5EF4-FFF2-40B4-BE49-F238E27FC236}">
                <a16:creationId xmlns:a16="http://schemas.microsoft.com/office/drawing/2014/main" id="{5D4612F6-728B-1725-7393-F7BD558705CD}"/>
              </a:ext>
            </a:extLst>
          </p:cNvPr>
          <p:cNvPicPr>
            <a:picLocks noChangeAspect="1"/>
          </p:cNvPicPr>
          <p:nvPr/>
        </p:nvPicPr>
        <p:blipFill>
          <a:blip r:embed="rId3"/>
          <a:stretch>
            <a:fillRect/>
          </a:stretch>
        </p:blipFill>
        <p:spPr>
          <a:xfrm>
            <a:off x="6823958" y="2054455"/>
            <a:ext cx="3241170" cy="2749090"/>
          </a:xfrm>
          <a:prstGeom prst="rect">
            <a:avLst/>
          </a:prstGeom>
        </p:spPr>
      </p:pic>
      <p:sp>
        <p:nvSpPr>
          <p:cNvPr id="8" name="TextBox 7">
            <a:extLst>
              <a:ext uri="{FF2B5EF4-FFF2-40B4-BE49-F238E27FC236}">
                <a16:creationId xmlns:a16="http://schemas.microsoft.com/office/drawing/2014/main" id="{E925EB49-4BFA-F987-E0B2-5434D0F935F4}"/>
              </a:ext>
            </a:extLst>
          </p:cNvPr>
          <p:cNvSpPr txBox="1"/>
          <p:nvPr/>
        </p:nvSpPr>
        <p:spPr>
          <a:xfrm>
            <a:off x="5358064" y="5097840"/>
            <a:ext cx="5743074" cy="800219"/>
          </a:xfrm>
          <a:prstGeom prst="rect">
            <a:avLst/>
          </a:prstGeom>
          <a:noFill/>
        </p:spPr>
        <p:txBody>
          <a:bodyPr wrap="square" rtlCol="0">
            <a:spAutoFit/>
          </a:bodyPr>
          <a:lstStyle/>
          <a:p>
            <a:r>
              <a:rPr lang="en-US" sz="1600" b="1" dirty="0"/>
              <a:t>Identifies the employee who handled the highest number of customer orders.</a:t>
            </a:r>
          </a:p>
          <a:p>
            <a:endParaRPr lang="en-IN" dirty="0"/>
          </a:p>
        </p:txBody>
      </p:sp>
    </p:spTree>
    <p:extLst>
      <p:ext uri="{BB962C8B-B14F-4D97-AF65-F5344CB8AC3E}">
        <p14:creationId xmlns:p14="http://schemas.microsoft.com/office/powerpoint/2010/main" val="912354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D54B2-1821-7822-1160-B5EA09E3B272}"/>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1533784D-C0FB-2A1C-B2BC-CED8BE4B1854}"/>
              </a:ext>
            </a:extLst>
          </p:cNvPr>
          <p:cNvSpPr>
            <a:spLocks noGrp="1"/>
          </p:cNvSpPr>
          <p:nvPr>
            <p:ph type="body" idx="1"/>
          </p:nvPr>
        </p:nvSpPr>
        <p:spPr>
          <a:xfrm>
            <a:off x="838200" y="1480152"/>
            <a:ext cx="10515600" cy="4696811"/>
          </a:xfrm>
        </p:spPr>
        <p:txBody>
          <a:bodyPr/>
          <a:lstStyle/>
          <a:p>
            <a:r>
              <a:rPr lang="en-IN" b="1" dirty="0"/>
              <a:t>Rank Employees by Sales</a:t>
            </a:r>
          </a:p>
          <a:p>
            <a:endParaRPr lang="en-IN" b="1" dirty="0"/>
          </a:p>
        </p:txBody>
      </p:sp>
      <p:pic>
        <p:nvPicPr>
          <p:cNvPr id="5" name="Picture 4">
            <a:extLst>
              <a:ext uri="{FF2B5EF4-FFF2-40B4-BE49-F238E27FC236}">
                <a16:creationId xmlns:a16="http://schemas.microsoft.com/office/drawing/2014/main" id="{79EDF309-35F4-3FBC-2B82-03DB76916A4D}"/>
              </a:ext>
            </a:extLst>
          </p:cNvPr>
          <p:cNvPicPr>
            <a:picLocks noChangeAspect="1"/>
          </p:cNvPicPr>
          <p:nvPr/>
        </p:nvPicPr>
        <p:blipFill>
          <a:blip r:embed="rId2"/>
          <a:stretch>
            <a:fillRect/>
          </a:stretch>
        </p:blipFill>
        <p:spPr>
          <a:xfrm>
            <a:off x="1481908" y="2288682"/>
            <a:ext cx="3324689" cy="3290286"/>
          </a:xfrm>
          <a:prstGeom prst="rect">
            <a:avLst/>
          </a:prstGeom>
        </p:spPr>
      </p:pic>
      <p:pic>
        <p:nvPicPr>
          <p:cNvPr id="7" name="Picture 6">
            <a:extLst>
              <a:ext uri="{FF2B5EF4-FFF2-40B4-BE49-F238E27FC236}">
                <a16:creationId xmlns:a16="http://schemas.microsoft.com/office/drawing/2014/main" id="{E571892C-C44B-E72A-FD05-16E0B850A5C4}"/>
              </a:ext>
            </a:extLst>
          </p:cNvPr>
          <p:cNvPicPr>
            <a:picLocks noChangeAspect="1"/>
          </p:cNvPicPr>
          <p:nvPr/>
        </p:nvPicPr>
        <p:blipFill>
          <a:blip r:embed="rId3"/>
          <a:stretch>
            <a:fillRect/>
          </a:stretch>
        </p:blipFill>
        <p:spPr>
          <a:xfrm>
            <a:off x="6894387" y="1863943"/>
            <a:ext cx="2991267" cy="3130113"/>
          </a:xfrm>
          <a:prstGeom prst="rect">
            <a:avLst/>
          </a:prstGeom>
        </p:spPr>
      </p:pic>
      <p:sp>
        <p:nvSpPr>
          <p:cNvPr id="8" name="TextBox 7">
            <a:extLst>
              <a:ext uri="{FF2B5EF4-FFF2-40B4-BE49-F238E27FC236}">
                <a16:creationId xmlns:a16="http://schemas.microsoft.com/office/drawing/2014/main" id="{7A4669CB-CDB7-0C31-5445-F0847AB3248A}"/>
              </a:ext>
            </a:extLst>
          </p:cNvPr>
          <p:cNvSpPr txBox="1"/>
          <p:nvPr/>
        </p:nvSpPr>
        <p:spPr>
          <a:xfrm>
            <a:off x="5450306" y="5261811"/>
            <a:ext cx="5041232" cy="800219"/>
          </a:xfrm>
          <a:prstGeom prst="rect">
            <a:avLst/>
          </a:prstGeom>
          <a:noFill/>
        </p:spPr>
        <p:txBody>
          <a:bodyPr wrap="square" rtlCol="0">
            <a:spAutoFit/>
          </a:bodyPr>
          <a:lstStyle/>
          <a:p>
            <a:r>
              <a:rPr lang="en-US" sz="1600" b="1" dirty="0"/>
              <a:t>Ranks employees based on the total sales value they processed.</a:t>
            </a:r>
          </a:p>
          <a:p>
            <a:endParaRPr lang="en-IN" dirty="0"/>
          </a:p>
        </p:txBody>
      </p:sp>
    </p:spTree>
    <p:extLst>
      <p:ext uri="{BB962C8B-B14F-4D97-AF65-F5344CB8AC3E}">
        <p14:creationId xmlns:p14="http://schemas.microsoft.com/office/powerpoint/2010/main" val="584956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53261-217A-7AA9-08F3-EED88D3B78AD}"/>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4EAB9B70-09C9-0E58-1CDD-D009DA8D85F0}"/>
              </a:ext>
            </a:extLst>
          </p:cNvPr>
          <p:cNvSpPr>
            <a:spLocks noGrp="1"/>
          </p:cNvSpPr>
          <p:nvPr>
            <p:ph type="body" idx="1"/>
          </p:nvPr>
        </p:nvSpPr>
        <p:spPr>
          <a:xfrm>
            <a:off x="838200" y="1491916"/>
            <a:ext cx="10515600" cy="4685047"/>
          </a:xfrm>
        </p:spPr>
        <p:txBody>
          <a:bodyPr/>
          <a:lstStyle/>
          <a:p>
            <a:r>
              <a:rPr lang="en-IN" b="1" dirty="0"/>
              <a:t>Products Above Average Price</a:t>
            </a:r>
          </a:p>
        </p:txBody>
      </p:sp>
      <p:pic>
        <p:nvPicPr>
          <p:cNvPr id="5" name="Picture 4">
            <a:extLst>
              <a:ext uri="{FF2B5EF4-FFF2-40B4-BE49-F238E27FC236}">
                <a16:creationId xmlns:a16="http://schemas.microsoft.com/office/drawing/2014/main" id="{2AA95E5E-4FD1-EBD7-25BC-AC35F7BF24AD}"/>
              </a:ext>
            </a:extLst>
          </p:cNvPr>
          <p:cNvPicPr>
            <a:picLocks noChangeAspect="1"/>
          </p:cNvPicPr>
          <p:nvPr/>
        </p:nvPicPr>
        <p:blipFill>
          <a:blip r:embed="rId2"/>
          <a:stretch>
            <a:fillRect/>
          </a:stretch>
        </p:blipFill>
        <p:spPr>
          <a:xfrm>
            <a:off x="1070876" y="2408509"/>
            <a:ext cx="3100071" cy="2627270"/>
          </a:xfrm>
          <a:prstGeom prst="rect">
            <a:avLst/>
          </a:prstGeom>
        </p:spPr>
      </p:pic>
      <p:pic>
        <p:nvPicPr>
          <p:cNvPr id="7" name="Picture 6">
            <a:extLst>
              <a:ext uri="{FF2B5EF4-FFF2-40B4-BE49-F238E27FC236}">
                <a16:creationId xmlns:a16="http://schemas.microsoft.com/office/drawing/2014/main" id="{9DB72267-97FB-76D4-C486-2C6F547CAC61}"/>
              </a:ext>
            </a:extLst>
          </p:cNvPr>
          <p:cNvPicPr>
            <a:picLocks noChangeAspect="1"/>
          </p:cNvPicPr>
          <p:nvPr/>
        </p:nvPicPr>
        <p:blipFill>
          <a:blip r:embed="rId3"/>
          <a:stretch>
            <a:fillRect/>
          </a:stretch>
        </p:blipFill>
        <p:spPr>
          <a:xfrm>
            <a:off x="6520471" y="1968729"/>
            <a:ext cx="2767908" cy="2695951"/>
          </a:xfrm>
          <a:prstGeom prst="rect">
            <a:avLst/>
          </a:prstGeom>
        </p:spPr>
      </p:pic>
      <p:sp>
        <p:nvSpPr>
          <p:cNvPr id="8" name="TextBox 7">
            <a:extLst>
              <a:ext uri="{FF2B5EF4-FFF2-40B4-BE49-F238E27FC236}">
                <a16:creationId xmlns:a16="http://schemas.microsoft.com/office/drawing/2014/main" id="{A64F2EAA-D900-F03D-4E13-750A3DE8AFB4}"/>
              </a:ext>
            </a:extLst>
          </p:cNvPr>
          <p:cNvSpPr txBox="1"/>
          <p:nvPr/>
        </p:nvSpPr>
        <p:spPr>
          <a:xfrm>
            <a:off x="5021179" y="5035779"/>
            <a:ext cx="5454316" cy="800219"/>
          </a:xfrm>
          <a:prstGeom prst="rect">
            <a:avLst/>
          </a:prstGeom>
          <a:noFill/>
        </p:spPr>
        <p:txBody>
          <a:bodyPr wrap="square" rtlCol="0">
            <a:spAutoFit/>
          </a:bodyPr>
          <a:lstStyle/>
          <a:p>
            <a:r>
              <a:rPr lang="en-US" sz="1600" b="1" dirty="0"/>
              <a:t>Identifies products priced higher than the average product price in the store.</a:t>
            </a:r>
          </a:p>
          <a:p>
            <a:endParaRPr lang="en-IN" dirty="0"/>
          </a:p>
        </p:txBody>
      </p:sp>
    </p:spTree>
    <p:extLst>
      <p:ext uri="{BB962C8B-B14F-4D97-AF65-F5344CB8AC3E}">
        <p14:creationId xmlns:p14="http://schemas.microsoft.com/office/powerpoint/2010/main" val="302781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53856-6B7E-3D6B-B4A2-960273A8F433}"/>
              </a:ext>
            </a:extLst>
          </p:cNvPr>
          <p:cNvSpPr>
            <a:spLocks noGrp="1"/>
          </p:cNvSpPr>
          <p:nvPr>
            <p:ph type="title"/>
          </p:nvPr>
        </p:nvSpPr>
        <p:spPr/>
        <p:txBody>
          <a:bodyPr/>
          <a:lstStyle/>
          <a:p>
            <a:r>
              <a:rPr lang="en-US" b="1" dirty="0">
                <a:solidFill>
                  <a:srgbClr val="FF0000"/>
                </a:solidFill>
              </a:rPr>
              <a:t>Conclusion</a:t>
            </a:r>
            <a:endParaRPr lang="en-IN" b="1" dirty="0">
              <a:solidFill>
                <a:srgbClr val="FF0000"/>
              </a:solidFill>
            </a:endParaRPr>
          </a:p>
        </p:txBody>
      </p:sp>
      <p:sp>
        <p:nvSpPr>
          <p:cNvPr id="3" name="Text Placeholder 2">
            <a:extLst>
              <a:ext uri="{FF2B5EF4-FFF2-40B4-BE49-F238E27FC236}">
                <a16:creationId xmlns:a16="http://schemas.microsoft.com/office/drawing/2014/main" id="{AA8192C9-2DE7-B8A2-3572-5F919EE5D080}"/>
              </a:ext>
            </a:extLst>
          </p:cNvPr>
          <p:cNvSpPr>
            <a:spLocks noGrp="1"/>
          </p:cNvSpPr>
          <p:nvPr>
            <p:ph type="body" idx="1"/>
          </p:nvPr>
        </p:nvSpPr>
        <p:spPr/>
        <p:txBody>
          <a:bodyPr/>
          <a:lstStyle/>
          <a:p>
            <a:r>
              <a:rPr lang="en-US" dirty="0"/>
              <a:t> Top customers contribute a significant portion of total revenue.</a:t>
            </a:r>
          </a:p>
          <a:p>
            <a:r>
              <a:rPr lang="en-US" dirty="0"/>
              <a:t> Certain products and categories consistently generate higher sales.</a:t>
            </a:r>
          </a:p>
          <a:p>
            <a:r>
              <a:rPr lang="en-US" dirty="0"/>
              <a:t> Weekday order volume is higher compared to weekends.</a:t>
            </a:r>
          </a:p>
          <a:p>
            <a:r>
              <a:rPr lang="en-US" dirty="0"/>
              <a:t> Some suppliers contribute more revenue than others.</a:t>
            </a:r>
          </a:p>
          <a:p>
            <a:r>
              <a:rPr lang="en-US" dirty="0"/>
              <a:t> Employee performance varies based on order handling and sales value.</a:t>
            </a:r>
            <a:endParaRPr lang="en-IN" dirty="0"/>
          </a:p>
        </p:txBody>
      </p:sp>
    </p:spTree>
    <p:extLst>
      <p:ext uri="{BB962C8B-B14F-4D97-AF65-F5344CB8AC3E}">
        <p14:creationId xmlns:p14="http://schemas.microsoft.com/office/powerpoint/2010/main" val="3822997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4CC90-F1DA-4905-C4EA-8D7CD5E194BB}"/>
              </a:ext>
            </a:extLst>
          </p:cNvPr>
          <p:cNvSpPr>
            <a:spLocks noGrp="1"/>
          </p:cNvSpPr>
          <p:nvPr>
            <p:ph type="title"/>
          </p:nvPr>
        </p:nvSpPr>
        <p:spPr/>
        <p:txBody>
          <a:bodyPr/>
          <a:lstStyle/>
          <a:p>
            <a:r>
              <a:rPr lang="en-US" b="1" dirty="0">
                <a:solidFill>
                  <a:srgbClr val="FF0000"/>
                </a:solidFill>
              </a:rPr>
              <a:t>Recommendations</a:t>
            </a:r>
            <a:endParaRPr lang="en-IN" b="1" dirty="0">
              <a:solidFill>
                <a:srgbClr val="FF0000"/>
              </a:solidFill>
            </a:endParaRPr>
          </a:p>
        </p:txBody>
      </p:sp>
      <p:sp>
        <p:nvSpPr>
          <p:cNvPr id="3" name="Text Placeholder 2">
            <a:extLst>
              <a:ext uri="{FF2B5EF4-FFF2-40B4-BE49-F238E27FC236}">
                <a16:creationId xmlns:a16="http://schemas.microsoft.com/office/drawing/2014/main" id="{604EEE99-8945-F34A-1458-F6818236BA04}"/>
              </a:ext>
            </a:extLst>
          </p:cNvPr>
          <p:cNvSpPr>
            <a:spLocks noGrp="1"/>
          </p:cNvSpPr>
          <p:nvPr>
            <p:ph type="body" idx="1"/>
          </p:nvPr>
        </p:nvSpPr>
        <p:spPr/>
        <p:txBody>
          <a:bodyPr/>
          <a:lstStyle/>
          <a:p>
            <a:r>
              <a:rPr lang="en-US" dirty="0"/>
              <a:t>Focus on retaining high-value customers through loyalty programs.</a:t>
            </a:r>
          </a:p>
          <a:p>
            <a:r>
              <a:rPr lang="en-US" dirty="0"/>
              <a:t>Maintain higher inventory for top-selling products.</a:t>
            </a:r>
          </a:p>
          <a:p>
            <a:r>
              <a:rPr lang="en-US" dirty="0"/>
              <a:t>Increase promotions during high-sales periods.</a:t>
            </a:r>
          </a:p>
          <a:p>
            <a:r>
              <a:rPr lang="en-US" dirty="0"/>
              <a:t>Strengthen partnerships with high-performing suppliers.</a:t>
            </a:r>
          </a:p>
          <a:p>
            <a:r>
              <a:rPr lang="en-US" dirty="0"/>
              <a:t>Provide incentives for top-performing employees.</a:t>
            </a:r>
          </a:p>
          <a:p>
            <a:r>
              <a:rPr lang="en-US" dirty="0"/>
              <a:t>Monitor low-performing products and optimize pricing strategies</a:t>
            </a:r>
            <a:endParaRPr lang="en-IN" dirty="0"/>
          </a:p>
        </p:txBody>
      </p:sp>
    </p:spTree>
    <p:extLst>
      <p:ext uri="{BB962C8B-B14F-4D97-AF65-F5344CB8AC3E}">
        <p14:creationId xmlns:p14="http://schemas.microsoft.com/office/powerpoint/2010/main" val="3328431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TotalTime>
  <Words>795</Words>
  <Application>Microsoft Office PowerPoint</Application>
  <PresentationFormat>Widescreen</PresentationFormat>
  <Paragraphs>106</Paragraphs>
  <Slides>26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Lato Black</vt:lpstr>
      <vt:lpstr>Libre Baskerville</vt:lpstr>
      <vt:lpstr>Calibri</vt:lpstr>
      <vt:lpstr>Office Theme</vt:lpstr>
      <vt:lpstr>PowerPoint Presentation</vt:lpstr>
      <vt:lpstr>PowerPoint Presentation</vt:lpstr>
      <vt:lpstr>Agenda   </vt:lpstr>
      <vt:lpstr>Business Problem</vt:lpstr>
      <vt:lpstr>Problem Statement</vt:lpstr>
      <vt:lpstr>Objective</vt:lpstr>
      <vt:lpstr>ER Diagram</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Queries</vt:lpstr>
      <vt:lpstr>Conclusion</vt:lpstr>
      <vt:lpstr>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Gangireddy Uttejreddy</cp:lastModifiedBy>
  <cp:revision>16</cp:revision>
  <dcterms:created xsi:type="dcterms:W3CDTF">2021-02-16T05:19:01Z</dcterms:created>
  <dcterms:modified xsi:type="dcterms:W3CDTF">2026-05-09T07:06:41Z</dcterms:modified>
</cp:coreProperties>
</file>